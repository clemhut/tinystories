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3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A"/>
                </a:solidFill>
                <a:latin typeface="Cambria"/>
              </a:defRPr>
            </a:pPr>
            <a:r>
              <a:rPr lang="en-US" sz="1400" b="0" i="0" u="none" strike="noStrike">
                <a:solidFill>
                  <a:srgbClr val="1B2A4A"/>
                </a:solidFill>
                <a:latin typeface="Cambria"/>
              </a:rPr>
              <a:t>GPT-4 mean score (1–10) vs. model size</a:t>
            </a:r>
          </a:p>
        </c:rich>
      </c:tx>
      <c:overlay val="0"/>
    </c:title>
    <c:autoTitleDeleted val="0"/>
    <c:plotArea>
      <c:layout/>
      <c:lineChart>
        <c:grouping val="standard"/>
        <c:varyColors val="0"/>
        <c:ser>
          <c:idx val="0"/>
          <c:order val="0"/>
          <c:tx>
            <c:strRef>
              <c:f>Sheet1!$B$1</c:f>
              <c:strCache>
                <c:ptCount val="1"/>
                <c:pt idx="0">
                  <c:v>Grammar</c:v>
                </c:pt>
              </c:strCache>
            </c:strRef>
          </c:tx>
          <c:spPr>
            <a:ln w="40640" cap="flat">
              <a:solidFill>
                <a:srgbClr val="2A6F97"/>
              </a:solidFill>
              <a:prstDash val="solid"/>
              <a:round/>
            </a:ln>
            <a:effectLst/>
          </c:spPr>
          <c:marker>
            <c:symbol val="circle"/>
            <c:size val="6"/>
            <c:spPr>
              <a:solidFill>
                <a:srgbClr val="2A6F97"/>
              </a:solidFill>
              <a:ln w="9525" cap="flat">
                <a:solidFill>
                  <a:srgbClr val="2A6F97"/>
                </a:solidFill>
                <a:prstDash val="solid"/>
                <a:round/>
              </a:ln>
              <a:effectLst/>
            </c:spPr>
          </c:marker>
          <c:cat>
            <c:strRef>
              <c:f>Sheet1!$A$2:$A$6</c:f>
              <c:strCache>
                <c:ptCount val="5"/>
                <c:pt idx="0">
                  <c:v>XS</c:v>
                </c:pt>
                <c:pt idx="1">
                  <c:v>Small</c:v>
                </c:pt>
                <c:pt idx="2">
                  <c:v>Medium</c:v>
                </c:pt>
                <c:pt idx="3">
                  <c:v>Large</c:v>
                </c:pt>
                <c:pt idx="4">
                  <c:v>XL</c:v>
                </c:pt>
              </c:strCache>
            </c:strRef>
          </c:cat>
          <c:val>
            <c:numRef>
              <c:f>Sheet1!$B$2:$B$6</c:f>
              <c:numCache>
                <c:formatCode>General</c:formatCode>
                <c:ptCount val="5"/>
                <c:pt idx="0">
                  <c:v>5.14</c:v>
                </c:pt>
                <c:pt idx="1">
                  <c:v>6.44</c:v>
                </c:pt>
                <c:pt idx="2">
                  <c:v>6.96</c:v>
                </c:pt>
                <c:pt idx="3">
                  <c:v>7.28</c:v>
                </c:pt>
                <c:pt idx="4">
                  <c:v>7.74</c:v>
                </c:pt>
              </c:numCache>
            </c:numRef>
          </c:val>
          <c:smooth val="1"/>
          <c:extLst>
            <c:ext xmlns:c16="http://schemas.microsoft.com/office/drawing/2014/chart" uri="{C3380CC4-5D6E-409C-BE32-E72D297353CC}">
              <c16:uniqueId val="{00000000-5885-3340-9400-90CDC317800C}"/>
            </c:ext>
          </c:extLst>
        </c:ser>
        <c:ser>
          <c:idx val="1"/>
          <c:order val="1"/>
          <c:tx>
            <c:strRef>
              <c:f>Sheet1!$C$1</c:f>
              <c:strCache>
                <c:ptCount val="1"/>
                <c:pt idx="0">
                  <c:v>Creativity</c:v>
                </c:pt>
              </c:strCache>
            </c:strRef>
          </c:tx>
          <c:spPr>
            <a:ln w="40640" cap="flat">
              <a:solidFill>
                <a:srgbClr val="E8833A"/>
              </a:solidFill>
              <a:prstDash val="solid"/>
              <a:round/>
            </a:ln>
            <a:effectLst/>
          </c:spPr>
          <c:marker>
            <c:symbol val="circle"/>
            <c:size val="6"/>
            <c:spPr>
              <a:solidFill>
                <a:srgbClr val="E8833A"/>
              </a:solidFill>
              <a:ln w="9525" cap="flat">
                <a:solidFill>
                  <a:srgbClr val="E8833A"/>
                </a:solidFill>
                <a:prstDash val="solid"/>
                <a:round/>
              </a:ln>
              <a:effectLst/>
            </c:spPr>
          </c:marker>
          <c:cat>
            <c:strRef>
              <c:f>Sheet1!$A$2:$A$6</c:f>
              <c:strCache>
                <c:ptCount val="5"/>
                <c:pt idx="0">
                  <c:v>XS</c:v>
                </c:pt>
                <c:pt idx="1">
                  <c:v>Small</c:v>
                </c:pt>
                <c:pt idx="2">
                  <c:v>Medium</c:v>
                </c:pt>
                <c:pt idx="3">
                  <c:v>Large</c:v>
                </c:pt>
                <c:pt idx="4">
                  <c:v>XL</c:v>
                </c:pt>
              </c:strCache>
            </c:strRef>
          </c:cat>
          <c:val>
            <c:numRef>
              <c:f>Sheet1!$C$2:$C$6</c:f>
              <c:numCache>
                <c:formatCode>General</c:formatCode>
                <c:ptCount val="5"/>
                <c:pt idx="0">
                  <c:v>4.62</c:v>
                </c:pt>
                <c:pt idx="1">
                  <c:v>5.2</c:v>
                </c:pt>
                <c:pt idx="2">
                  <c:v>5.26</c:v>
                </c:pt>
                <c:pt idx="3">
                  <c:v>5.84</c:v>
                </c:pt>
                <c:pt idx="4">
                  <c:v>5.92</c:v>
                </c:pt>
              </c:numCache>
            </c:numRef>
          </c:val>
          <c:smooth val="1"/>
          <c:extLst>
            <c:ext xmlns:c16="http://schemas.microsoft.com/office/drawing/2014/chart" uri="{C3380CC4-5D6E-409C-BE32-E72D297353CC}">
              <c16:uniqueId val="{00000001-5885-3340-9400-90CDC317800C}"/>
            </c:ext>
          </c:extLst>
        </c:ser>
        <c:ser>
          <c:idx val="2"/>
          <c:order val="2"/>
          <c:tx>
            <c:strRef>
              <c:f>Sheet1!$D$1</c:f>
              <c:strCache>
                <c:ptCount val="1"/>
                <c:pt idx="0">
                  <c:v>Consistency</c:v>
                </c:pt>
              </c:strCache>
            </c:strRef>
          </c:tx>
          <c:spPr>
            <a:ln w="40640" cap="flat">
              <a:solidFill>
                <a:srgbClr val="2A9D8F"/>
              </a:solidFill>
              <a:prstDash val="solid"/>
              <a:round/>
            </a:ln>
            <a:effectLst/>
          </c:spPr>
          <c:marker>
            <c:symbol val="circle"/>
            <c:size val="6"/>
            <c:spPr>
              <a:solidFill>
                <a:srgbClr val="2A9D8F"/>
              </a:solidFill>
              <a:ln w="9525" cap="flat">
                <a:solidFill>
                  <a:srgbClr val="2A9D8F"/>
                </a:solidFill>
                <a:prstDash val="solid"/>
                <a:round/>
              </a:ln>
              <a:effectLst/>
            </c:spPr>
          </c:marker>
          <c:cat>
            <c:strRef>
              <c:f>Sheet1!$A$2:$A$6</c:f>
              <c:strCache>
                <c:ptCount val="5"/>
                <c:pt idx="0">
                  <c:v>XS</c:v>
                </c:pt>
                <c:pt idx="1">
                  <c:v>Small</c:v>
                </c:pt>
                <c:pt idx="2">
                  <c:v>Medium</c:v>
                </c:pt>
                <c:pt idx="3">
                  <c:v>Large</c:v>
                </c:pt>
                <c:pt idx="4">
                  <c:v>XL</c:v>
                </c:pt>
              </c:strCache>
            </c:strRef>
          </c:cat>
          <c:val>
            <c:numRef>
              <c:f>Sheet1!$D$2:$D$6</c:f>
              <c:numCache>
                <c:formatCode>General</c:formatCode>
                <c:ptCount val="5"/>
                <c:pt idx="0">
                  <c:v>4.0599999999999996</c:v>
                </c:pt>
                <c:pt idx="1">
                  <c:v>5.5</c:v>
                </c:pt>
                <c:pt idx="2">
                  <c:v>6</c:v>
                </c:pt>
                <c:pt idx="3">
                  <c:v>7.08</c:v>
                </c:pt>
                <c:pt idx="4">
                  <c:v>7.58</c:v>
                </c:pt>
              </c:numCache>
            </c:numRef>
          </c:val>
          <c:smooth val="1"/>
          <c:extLst>
            <c:ext xmlns:c16="http://schemas.microsoft.com/office/drawing/2014/chart" uri="{C3380CC4-5D6E-409C-BE32-E72D297353CC}">
              <c16:uniqueId val="{00000002-5885-3340-9400-90CDC317800C}"/>
            </c:ext>
          </c:extLst>
        </c:ser>
        <c:ser>
          <c:idx val="3"/>
          <c:order val="3"/>
          <c:tx>
            <c:strRef>
              <c:f>Sheet1!$E$1</c:f>
              <c:strCache>
                <c:ptCount val="1"/>
                <c:pt idx="0">
                  <c:v>Plot sense</c:v>
                </c:pt>
              </c:strCache>
            </c:strRef>
          </c:tx>
          <c:spPr>
            <a:ln w="40640" cap="flat">
              <a:solidFill>
                <a:srgbClr val="8E5572"/>
              </a:solidFill>
              <a:prstDash val="solid"/>
              <a:round/>
            </a:ln>
            <a:effectLst/>
          </c:spPr>
          <c:marker>
            <c:symbol val="circle"/>
            <c:size val="6"/>
            <c:spPr>
              <a:solidFill>
                <a:srgbClr val="8E5572"/>
              </a:solidFill>
              <a:ln w="9525" cap="flat">
                <a:solidFill>
                  <a:srgbClr val="8E5572"/>
                </a:solidFill>
                <a:prstDash val="solid"/>
                <a:round/>
              </a:ln>
              <a:effectLst/>
            </c:spPr>
          </c:marker>
          <c:cat>
            <c:strRef>
              <c:f>Sheet1!$A$2:$A$6</c:f>
              <c:strCache>
                <c:ptCount val="5"/>
                <c:pt idx="0">
                  <c:v>XS</c:v>
                </c:pt>
                <c:pt idx="1">
                  <c:v>Small</c:v>
                </c:pt>
                <c:pt idx="2">
                  <c:v>Medium</c:v>
                </c:pt>
                <c:pt idx="3">
                  <c:v>Large</c:v>
                </c:pt>
                <c:pt idx="4">
                  <c:v>XL</c:v>
                </c:pt>
              </c:strCache>
            </c:strRef>
          </c:cat>
          <c:val>
            <c:numRef>
              <c:f>Sheet1!$E$2:$E$6</c:f>
              <c:numCache>
                <c:formatCode>General</c:formatCode>
                <c:ptCount val="5"/>
                <c:pt idx="0">
                  <c:v>3.12</c:v>
                </c:pt>
                <c:pt idx="1">
                  <c:v>4.42</c:v>
                </c:pt>
                <c:pt idx="2">
                  <c:v>4.78</c:v>
                </c:pt>
                <c:pt idx="3">
                  <c:v>5.88</c:v>
                </c:pt>
                <c:pt idx="4">
                  <c:v>6.28</c:v>
                </c:pt>
              </c:numCache>
            </c:numRef>
          </c:val>
          <c:smooth val="1"/>
          <c:extLst>
            <c:ext xmlns:c16="http://schemas.microsoft.com/office/drawing/2014/chart" uri="{C3380CC4-5D6E-409C-BE32-E72D297353CC}">
              <c16:uniqueId val="{00000003-5885-3340-9400-90CDC317800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Calibri"/>
              </a:defRPr>
            </a:pPr>
            <a:endParaRPr lang="en-US"/>
          </a:p>
        </c:txPr>
        <c:crossAx val="2094734552"/>
        <c:crosses val="autoZero"/>
        <c:auto val="1"/>
        <c:lblAlgn val="ctr"/>
        <c:lblOffset val="100"/>
        <c:noMultiLvlLbl val="1"/>
      </c:catAx>
      <c:valAx>
        <c:axId val="2094734552"/>
        <c:scaling>
          <c:orientation val="minMax"/>
          <c:max val="9"/>
          <c:min val="2"/>
        </c:scaling>
        <c:delete val="0"/>
        <c:axPos val="l"/>
        <c:majorGridlines>
          <c:spPr>
            <a:ln w="6350" cap="flat">
              <a:solidFill>
                <a:srgbClr val="EAEF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24344D"/>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A"/>
                </a:solidFill>
                <a:latin typeface="Cambria"/>
              </a:defRPr>
            </a:pPr>
            <a:r>
              <a:rPr lang="en-US" sz="1400" b="0" i="0" u="none" strike="noStrike">
                <a:solidFill>
                  <a:srgbClr val="1B2A4A"/>
                </a:solidFill>
                <a:latin typeface="Cambria"/>
              </a:rPr>
              <a:t>Skill profile within each model size</a:t>
            </a:r>
          </a:p>
        </c:rich>
      </c:tx>
      <c:overlay val="0"/>
    </c:title>
    <c:autoTitleDeleted val="0"/>
    <c:plotArea>
      <c:layout/>
      <c:barChart>
        <c:barDir val="col"/>
        <c:grouping val="clustered"/>
        <c:varyColors val="0"/>
        <c:ser>
          <c:idx val="0"/>
          <c:order val="0"/>
          <c:tx>
            <c:strRef>
              <c:f>Sheet1!$B$1</c:f>
              <c:strCache>
                <c:ptCount val="1"/>
                <c:pt idx="0">
                  <c:v>Grammar</c:v>
                </c:pt>
              </c:strCache>
            </c:strRef>
          </c:tx>
          <c:spPr>
            <a:solidFill>
              <a:srgbClr val="2A6F97"/>
            </a:solidFill>
            <a:effectLst/>
          </c:spPr>
          <c:invertIfNegative val="0"/>
          <c:cat>
            <c:strRef>
              <c:f>Sheet1!$A$2:$A$6</c:f>
              <c:strCache>
                <c:ptCount val="5"/>
                <c:pt idx="0">
                  <c:v>XS</c:v>
                </c:pt>
                <c:pt idx="1">
                  <c:v>Small</c:v>
                </c:pt>
                <c:pt idx="2">
                  <c:v>Medium</c:v>
                </c:pt>
                <c:pt idx="3">
                  <c:v>Large</c:v>
                </c:pt>
                <c:pt idx="4">
                  <c:v>XL</c:v>
                </c:pt>
              </c:strCache>
            </c:strRef>
          </c:cat>
          <c:val>
            <c:numRef>
              <c:f>Sheet1!$B$2:$B$6</c:f>
              <c:numCache>
                <c:formatCode>General</c:formatCode>
                <c:ptCount val="5"/>
                <c:pt idx="0">
                  <c:v>5.14</c:v>
                </c:pt>
                <c:pt idx="1">
                  <c:v>6.44</c:v>
                </c:pt>
                <c:pt idx="2">
                  <c:v>6.96</c:v>
                </c:pt>
                <c:pt idx="3">
                  <c:v>7.28</c:v>
                </c:pt>
                <c:pt idx="4">
                  <c:v>7.74</c:v>
                </c:pt>
              </c:numCache>
            </c:numRef>
          </c:val>
          <c:extLst>
            <c:ext xmlns:c16="http://schemas.microsoft.com/office/drawing/2014/chart" uri="{C3380CC4-5D6E-409C-BE32-E72D297353CC}">
              <c16:uniqueId val="{00000000-3444-A940-8AC1-C9EDCCCE51A9}"/>
            </c:ext>
          </c:extLst>
        </c:ser>
        <c:ser>
          <c:idx val="1"/>
          <c:order val="1"/>
          <c:tx>
            <c:strRef>
              <c:f>Sheet1!$C$1</c:f>
              <c:strCache>
                <c:ptCount val="1"/>
                <c:pt idx="0">
                  <c:v>Consistency</c:v>
                </c:pt>
              </c:strCache>
            </c:strRef>
          </c:tx>
          <c:spPr>
            <a:solidFill>
              <a:srgbClr val="2A9D8F"/>
            </a:solidFill>
            <a:effectLst/>
          </c:spPr>
          <c:invertIfNegative val="0"/>
          <c:cat>
            <c:strRef>
              <c:f>Sheet1!$A$2:$A$6</c:f>
              <c:strCache>
                <c:ptCount val="5"/>
                <c:pt idx="0">
                  <c:v>XS</c:v>
                </c:pt>
                <c:pt idx="1">
                  <c:v>Small</c:v>
                </c:pt>
                <c:pt idx="2">
                  <c:v>Medium</c:v>
                </c:pt>
                <c:pt idx="3">
                  <c:v>Large</c:v>
                </c:pt>
                <c:pt idx="4">
                  <c:v>XL</c:v>
                </c:pt>
              </c:strCache>
            </c:strRef>
          </c:cat>
          <c:val>
            <c:numRef>
              <c:f>Sheet1!$C$2:$C$6</c:f>
              <c:numCache>
                <c:formatCode>General</c:formatCode>
                <c:ptCount val="5"/>
                <c:pt idx="0">
                  <c:v>4.0599999999999996</c:v>
                </c:pt>
                <c:pt idx="1">
                  <c:v>5.5</c:v>
                </c:pt>
                <c:pt idx="2">
                  <c:v>6</c:v>
                </c:pt>
                <c:pt idx="3">
                  <c:v>7.08</c:v>
                </c:pt>
                <c:pt idx="4">
                  <c:v>7.58</c:v>
                </c:pt>
              </c:numCache>
            </c:numRef>
          </c:val>
          <c:extLst>
            <c:ext xmlns:c16="http://schemas.microsoft.com/office/drawing/2014/chart" uri="{C3380CC4-5D6E-409C-BE32-E72D297353CC}">
              <c16:uniqueId val="{00000001-3444-A940-8AC1-C9EDCCCE51A9}"/>
            </c:ext>
          </c:extLst>
        </c:ser>
        <c:ser>
          <c:idx val="2"/>
          <c:order val="2"/>
          <c:tx>
            <c:strRef>
              <c:f>Sheet1!$D$1</c:f>
              <c:strCache>
                <c:ptCount val="1"/>
                <c:pt idx="0">
                  <c:v>Plot sense</c:v>
                </c:pt>
              </c:strCache>
            </c:strRef>
          </c:tx>
          <c:spPr>
            <a:solidFill>
              <a:srgbClr val="8E5572"/>
            </a:solidFill>
            <a:effectLst/>
          </c:spPr>
          <c:invertIfNegative val="0"/>
          <c:cat>
            <c:strRef>
              <c:f>Sheet1!$A$2:$A$6</c:f>
              <c:strCache>
                <c:ptCount val="5"/>
                <c:pt idx="0">
                  <c:v>XS</c:v>
                </c:pt>
                <c:pt idx="1">
                  <c:v>Small</c:v>
                </c:pt>
                <c:pt idx="2">
                  <c:v>Medium</c:v>
                </c:pt>
                <c:pt idx="3">
                  <c:v>Large</c:v>
                </c:pt>
                <c:pt idx="4">
                  <c:v>XL</c:v>
                </c:pt>
              </c:strCache>
            </c:strRef>
          </c:cat>
          <c:val>
            <c:numRef>
              <c:f>Sheet1!$D$2:$D$6</c:f>
              <c:numCache>
                <c:formatCode>General</c:formatCode>
                <c:ptCount val="5"/>
                <c:pt idx="0">
                  <c:v>3.12</c:v>
                </c:pt>
                <c:pt idx="1">
                  <c:v>4.42</c:v>
                </c:pt>
                <c:pt idx="2">
                  <c:v>4.78</c:v>
                </c:pt>
                <c:pt idx="3">
                  <c:v>5.88</c:v>
                </c:pt>
                <c:pt idx="4">
                  <c:v>6.28</c:v>
                </c:pt>
              </c:numCache>
            </c:numRef>
          </c:val>
          <c:extLst>
            <c:ext xmlns:c16="http://schemas.microsoft.com/office/drawing/2014/chart" uri="{C3380CC4-5D6E-409C-BE32-E72D297353CC}">
              <c16:uniqueId val="{00000002-3444-A940-8AC1-C9EDCCCE51A9}"/>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Calibri"/>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EAEF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24344D"/>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A"/>
                </a:solidFill>
                <a:latin typeface="Cambria"/>
              </a:defRPr>
            </a:pPr>
            <a:r>
              <a:rPr lang="en-US" sz="1250" b="0" i="0" u="none" strike="noStrike">
                <a:solidFill>
                  <a:srgbClr val="1B2A4A"/>
                </a:solidFill>
                <a:latin typeface="Cambria"/>
              </a:rPr>
              <a:t>Character 6-gram overlap: how much MORE the model echoes train vs. unseen valid</a:t>
            </a:r>
          </a:p>
        </c:rich>
      </c:tx>
      <c:overlay val="0"/>
    </c:title>
    <c:autoTitleDeleted val="0"/>
    <c:plotArea>
      <c:layout/>
      <c:barChart>
        <c:barDir val="col"/>
        <c:grouping val="clustered"/>
        <c:varyColors val="0"/>
        <c:ser>
          <c:idx val="0"/>
          <c:order val="0"/>
          <c:tx>
            <c:strRef>
              <c:f>Sheet1!$B$1</c:f>
              <c:strCache>
                <c:ptCount val="1"/>
                <c:pt idx="0">
                  <c:v>Train−Valid overlap gap (pp)</c:v>
                </c:pt>
              </c:strCache>
            </c:strRef>
          </c:tx>
          <c:spPr>
            <a:solidFill>
              <a:srgbClr val="E8833A"/>
            </a:solidFill>
            <a:effectLst/>
          </c:spPr>
          <c:invertIfNegative val="0"/>
          <c:dLbls>
            <c:numFmt formatCode="0.00&quot;pp&quot;" sourceLinked="0"/>
            <c:spPr>
              <a:noFill/>
              <a:ln>
                <a:noFill/>
              </a:ln>
              <a:effectLst/>
            </c:spPr>
            <c:txPr>
              <a:bodyPr/>
              <a:lstStyle/>
              <a:p>
                <a:pPr>
                  <a:defRPr sz="1100" b="0" i="0" u="none" strike="noStrike">
                    <a:solidFill>
                      <a:srgbClr val="24344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XS</c:v>
                </c:pt>
                <c:pt idx="1">
                  <c:v>Small</c:v>
                </c:pt>
                <c:pt idx="2">
                  <c:v>Medium</c:v>
                </c:pt>
                <c:pt idx="3">
                  <c:v>Large</c:v>
                </c:pt>
                <c:pt idx="4">
                  <c:v>XL</c:v>
                </c:pt>
              </c:strCache>
            </c:strRef>
          </c:cat>
          <c:val>
            <c:numRef>
              <c:f>Sheet1!$B$2:$B$6</c:f>
              <c:numCache>
                <c:formatCode>General</c:formatCode>
                <c:ptCount val="5"/>
                <c:pt idx="0">
                  <c:v>0.23</c:v>
                </c:pt>
                <c:pt idx="1">
                  <c:v>0.23</c:v>
                </c:pt>
                <c:pt idx="2">
                  <c:v>0.31</c:v>
                </c:pt>
                <c:pt idx="3">
                  <c:v>0.38</c:v>
                </c:pt>
                <c:pt idx="4">
                  <c:v>0.43</c:v>
                </c:pt>
              </c:numCache>
            </c:numRef>
          </c:val>
          <c:extLst>
            <c:ext xmlns:c16="http://schemas.microsoft.com/office/drawing/2014/chart" uri="{C3380CC4-5D6E-409C-BE32-E72D297353CC}">
              <c16:uniqueId val="{00000000-CE95-234B-A6F7-FFD735115612}"/>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AEF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Calibri"/>
              </a:defRPr>
            </a:pPr>
            <a:endParaRPr lang="en-US"/>
          </a:p>
        </c:txPr>
        <c:crossAx val="2094734554"/>
        <c:crosses val="autoZero"/>
        <c:crossBetween val="between"/>
        <c:majorUnit val="0.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12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55A"/>
          </a:solidFill>
          <a:ln/>
        </p:spPr>
        <p:txBody>
          <a:bodyPr/>
          <a:lstStyle/>
          <a:p>
            <a:endParaRPr lang="en-US"/>
          </a:p>
        </p:txBody>
      </p:sp>
      <p:sp>
        <p:nvSpPr>
          <p:cNvPr id="3" name="Shape 1"/>
          <p:cNvSpPr/>
          <p:nvPr/>
        </p:nvSpPr>
        <p:spPr>
          <a:xfrm>
            <a:off x="10881360" y="4297680"/>
            <a:ext cx="3108960" cy="3108960"/>
          </a:xfrm>
          <a:prstGeom prst="ellipse">
            <a:avLst/>
          </a:prstGeom>
          <a:solidFill>
            <a:srgbClr val="20304F"/>
          </a:solidFill>
          <a:ln/>
        </p:spPr>
        <p:txBody>
          <a:bodyPr/>
          <a:lstStyle/>
          <a:p>
            <a:endParaRPr lang="en-US"/>
          </a:p>
        </p:txBody>
      </p:sp>
      <p:sp>
        <p:nvSpPr>
          <p:cNvPr id="4" name="Shape 2"/>
          <p:cNvSpPr/>
          <p:nvPr/>
        </p:nvSpPr>
        <p:spPr>
          <a:xfrm>
            <a:off x="502920" y="960120"/>
            <a:ext cx="146304" cy="146304"/>
          </a:xfrm>
          <a:prstGeom prst="ellipse">
            <a:avLst/>
          </a:prstGeom>
          <a:solidFill>
            <a:srgbClr val="E8833A"/>
          </a:solidFill>
          <a:ln/>
        </p:spPr>
        <p:txBody>
          <a:bodyPr/>
          <a:lstStyle/>
          <a:p>
            <a:endParaRPr lang="en-US"/>
          </a:p>
        </p:txBody>
      </p:sp>
      <p:sp>
        <p:nvSpPr>
          <p:cNvPr id="5" name="Text 3"/>
          <p:cNvSpPr/>
          <p:nvPr/>
        </p:nvSpPr>
        <p:spPr>
          <a:xfrm>
            <a:off x="777240" y="914400"/>
            <a:ext cx="10058400" cy="274320"/>
          </a:xfrm>
          <a:prstGeom prst="rect">
            <a:avLst/>
          </a:prstGeom>
          <a:noFill/>
          <a:ln/>
        </p:spPr>
        <p:txBody>
          <a:bodyPr wrap="square" lIns="0" tIns="0" rIns="0" bIns="0" rtlCol="0" anchor="ctr"/>
          <a:lstStyle/>
          <a:p>
            <a:pPr marL="0" indent="0">
              <a:buNone/>
            </a:pPr>
            <a:r>
              <a:rPr lang="en-US" sz="1250" b="1" kern="0" spc="200" dirty="0">
                <a:solidFill>
                  <a:srgbClr val="E8833A"/>
                </a:solidFill>
                <a:latin typeface="Calibri" pitchFamily="34" charset="0"/>
                <a:ea typeface="Calibri" pitchFamily="34" charset="-122"/>
                <a:cs typeface="Calibri" pitchFamily="34" charset="-120"/>
              </a:rPr>
              <a:t>REPRODUCIBILITY &amp; EXTENSION CHALLENGE  ·  DEEP LEARNING FOR NLP</a:t>
            </a:r>
            <a:endParaRPr lang="en-US" sz="1250" dirty="0"/>
          </a:p>
        </p:txBody>
      </p:sp>
      <p:sp>
        <p:nvSpPr>
          <p:cNvPr id="6" name="Text 4"/>
          <p:cNvSpPr/>
          <p:nvPr/>
        </p:nvSpPr>
        <p:spPr>
          <a:xfrm>
            <a:off x="731520" y="1554480"/>
            <a:ext cx="1078992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Reproducing TinyStories</a:t>
            </a:r>
            <a:endParaRPr lang="en-US" sz="5400" dirty="0"/>
          </a:p>
        </p:txBody>
      </p:sp>
      <p:sp>
        <p:nvSpPr>
          <p:cNvPr id="7" name="Text 5"/>
          <p:cNvSpPr/>
          <p:nvPr/>
        </p:nvSpPr>
        <p:spPr>
          <a:xfrm>
            <a:off x="749808" y="2743200"/>
            <a:ext cx="9875520" cy="64008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How small can a language model be and still tell a coherent story?</a:t>
            </a:r>
            <a:endParaRPr lang="en-US" sz="2000" dirty="0"/>
          </a:p>
        </p:txBody>
      </p:sp>
      <p:sp>
        <p:nvSpPr>
          <p:cNvPr id="8" name="Text 6"/>
          <p:cNvSpPr/>
          <p:nvPr/>
        </p:nvSpPr>
        <p:spPr>
          <a:xfrm>
            <a:off x="749808" y="3611880"/>
            <a:ext cx="10058400" cy="365760"/>
          </a:xfrm>
          <a:prstGeom prst="rect">
            <a:avLst/>
          </a:prstGeom>
          <a:noFill/>
          <a:ln/>
        </p:spPr>
        <p:txBody>
          <a:bodyPr wrap="square" lIns="0" tIns="0" rIns="0" bIns="0" rtlCol="0" anchor="ctr"/>
          <a:lstStyle/>
          <a:p>
            <a:pPr marL="0" indent="0">
              <a:buNone/>
            </a:pPr>
            <a:r>
              <a:rPr lang="en-US" sz="1400" dirty="0">
                <a:solidFill>
                  <a:srgbClr val="9FB3D1"/>
                </a:solidFill>
                <a:latin typeface="Calibri" pitchFamily="34" charset="0"/>
                <a:ea typeface="Calibri" pitchFamily="34" charset="-122"/>
                <a:cs typeface="Calibri" pitchFamily="34" charset="-120"/>
              </a:rPr>
              <a:t>Eldan &amp; Li (2023), Microsoft Research  —  reproduced &amp; extended</a:t>
            </a:r>
            <a:endParaRPr lang="en-US" sz="1400" dirty="0"/>
          </a:p>
        </p:txBody>
      </p:sp>
      <p:sp>
        <p:nvSpPr>
          <p:cNvPr id="9" name="Text 7"/>
          <p:cNvSpPr/>
          <p:nvPr/>
        </p:nvSpPr>
        <p:spPr>
          <a:xfrm>
            <a:off x="749808" y="4800600"/>
            <a:ext cx="3383280" cy="274320"/>
          </a:xfrm>
          <a:prstGeom prst="rect">
            <a:avLst/>
          </a:prstGeom>
          <a:noFill/>
          <a:ln/>
        </p:spPr>
        <p:txBody>
          <a:bodyPr wrap="square" lIns="0" tIns="0" rIns="0" bIns="0" rtlCol="0" anchor="ctr"/>
          <a:lstStyle/>
          <a:p>
            <a:pPr marL="0" indent="0">
              <a:buNone/>
            </a:pPr>
            <a:r>
              <a:rPr lang="en-US" sz="1100" b="1" kern="0" spc="100" dirty="0">
                <a:solidFill>
                  <a:srgbClr val="E8833A"/>
                </a:solidFill>
                <a:latin typeface="Calibri" pitchFamily="34" charset="0"/>
                <a:ea typeface="Calibri" pitchFamily="34" charset="-122"/>
                <a:cs typeface="Calibri" pitchFamily="34" charset="-120"/>
              </a:rPr>
              <a:t>WHAT WE DID</a:t>
            </a:r>
            <a:endParaRPr lang="en-US" sz="1100" dirty="0"/>
          </a:p>
        </p:txBody>
      </p:sp>
      <p:sp>
        <p:nvSpPr>
          <p:cNvPr id="10" name="Text 8"/>
          <p:cNvSpPr/>
          <p:nvPr/>
        </p:nvSpPr>
        <p:spPr>
          <a:xfrm>
            <a:off x="749808" y="5074920"/>
            <a:ext cx="3383280" cy="91440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Trained 5 GPT models (1M–56M), ran GPT-4 evaluation &amp; memorization analysis</a:t>
            </a:r>
            <a:endParaRPr lang="en-US" sz="1250" dirty="0"/>
          </a:p>
        </p:txBody>
      </p:sp>
      <p:sp>
        <p:nvSpPr>
          <p:cNvPr id="11" name="Text 9"/>
          <p:cNvSpPr/>
          <p:nvPr/>
        </p:nvSpPr>
        <p:spPr>
          <a:xfrm>
            <a:off x="4407408" y="4800600"/>
            <a:ext cx="3383280" cy="274320"/>
          </a:xfrm>
          <a:prstGeom prst="rect">
            <a:avLst/>
          </a:prstGeom>
          <a:noFill/>
          <a:ln/>
        </p:spPr>
        <p:txBody>
          <a:bodyPr wrap="square" lIns="0" tIns="0" rIns="0" bIns="0" rtlCol="0" anchor="ctr"/>
          <a:lstStyle/>
          <a:p>
            <a:pPr marL="0" indent="0">
              <a:buNone/>
            </a:pPr>
            <a:r>
              <a:rPr lang="en-US" sz="1100" b="1" kern="0" spc="100" dirty="0">
                <a:solidFill>
                  <a:srgbClr val="E8833A"/>
                </a:solidFill>
                <a:latin typeface="Calibri" pitchFamily="34" charset="0"/>
                <a:ea typeface="Calibri" pitchFamily="34" charset="-122"/>
                <a:cs typeface="Calibri" pitchFamily="34" charset="-120"/>
              </a:rPr>
              <a:t>EXTENSION</a:t>
            </a:r>
            <a:endParaRPr lang="en-US" sz="1100" dirty="0"/>
          </a:p>
        </p:txBody>
      </p:sp>
      <p:sp>
        <p:nvSpPr>
          <p:cNvPr id="12" name="Text 10"/>
          <p:cNvSpPr/>
          <p:nvPr/>
        </p:nvSpPr>
        <p:spPr>
          <a:xfrm>
            <a:off x="4407408" y="5074920"/>
            <a:ext cx="3383280" cy="91440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Our own modern GPT: Differential Transformer + Grouped-Query Attention</a:t>
            </a:r>
            <a:endParaRPr lang="en-US" sz="1250" dirty="0"/>
          </a:p>
        </p:txBody>
      </p:sp>
      <p:sp>
        <p:nvSpPr>
          <p:cNvPr id="13" name="Text 11"/>
          <p:cNvSpPr/>
          <p:nvPr/>
        </p:nvSpPr>
        <p:spPr>
          <a:xfrm>
            <a:off x="8065008" y="4800600"/>
            <a:ext cx="3383280" cy="274320"/>
          </a:xfrm>
          <a:prstGeom prst="rect">
            <a:avLst/>
          </a:prstGeom>
          <a:noFill/>
          <a:ln/>
        </p:spPr>
        <p:txBody>
          <a:bodyPr wrap="square" lIns="0" tIns="0" rIns="0" bIns="0" rtlCol="0" anchor="ctr"/>
          <a:lstStyle/>
          <a:p>
            <a:pPr marL="0" indent="0">
              <a:buNone/>
            </a:pPr>
            <a:r>
              <a:rPr lang="en-US" sz="1100" b="1" kern="0" spc="100" dirty="0">
                <a:solidFill>
                  <a:srgbClr val="E8833A"/>
                </a:solidFill>
                <a:latin typeface="Calibri" pitchFamily="34" charset="0"/>
                <a:ea typeface="Calibri" pitchFamily="34" charset="-122"/>
                <a:cs typeface="Calibri" pitchFamily="34" charset="-120"/>
              </a:rPr>
              <a:t>REPOSITORY</a:t>
            </a:r>
            <a:endParaRPr lang="en-US" sz="1100" dirty="0"/>
          </a:p>
        </p:txBody>
      </p:sp>
      <p:sp>
        <p:nvSpPr>
          <p:cNvPr id="14" name="Text 12"/>
          <p:cNvSpPr/>
          <p:nvPr/>
        </p:nvSpPr>
        <p:spPr>
          <a:xfrm>
            <a:off x="8065008" y="5074920"/>
            <a:ext cx="3383280" cy="914400"/>
          </a:xfrm>
          <a:prstGeom prst="rect">
            <a:avLst/>
          </a:prstGeom>
          <a:noFill/>
          <a:ln/>
        </p:spPr>
        <p:txBody>
          <a:bodyPr wrap="square" lIns="0" tIns="0" rIns="0" bIns="0" rtlCol="0" anchor="ctr"/>
          <a:lstStyle/>
          <a:p>
            <a:pPr marL="0" indent="0">
              <a:buNone/>
            </a:pPr>
            <a:r>
              <a:rPr lang="en-US" sz="1250" dirty="0" err="1">
                <a:solidFill>
                  <a:srgbClr val="CADCFC"/>
                </a:solidFill>
                <a:latin typeface="Calibri" pitchFamily="34" charset="0"/>
                <a:ea typeface="Calibri" pitchFamily="34" charset="-122"/>
                <a:cs typeface="Calibri" pitchFamily="34" charset="-120"/>
              </a:rPr>
              <a:t>github.com</a:t>
            </a:r>
            <a:r>
              <a:rPr lang="en-US" sz="1250" dirty="0">
                <a:solidFill>
                  <a:srgbClr val="CADCFC"/>
                </a:solidFill>
                <a:latin typeface="Calibri" pitchFamily="34" charset="0"/>
                <a:ea typeface="Calibri" pitchFamily="34" charset="-122"/>
                <a:cs typeface="Calibri" pitchFamily="34" charset="-120"/>
              </a:rPr>
              <a:t>/</a:t>
            </a:r>
            <a:r>
              <a:rPr lang="en-US" sz="1250" dirty="0" err="1">
                <a:solidFill>
                  <a:srgbClr val="CADCFC"/>
                </a:solidFill>
                <a:latin typeface="Calibri" pitchFamily="34" charset="0"/>
                <a:ea typeface="Calibri" pitchFamily="34" charset="-122"/>
                <a:cs typeface="Calibri" pitchFamily="34" charset="-120"/>
              </a:rPr>
              <a:t>clemhut</a:t>
            </a:r>
            <a:r>
              <a:rPr lang="en-US" sz="1250" dirty="0">
                <a:solidFill>
                  <a:srgbClr val="CADCFC"/>
                </a:solidFill>
                <a:latin typeface="Calibri" pitchFamily="34" charset="0"/>
                <a:ea typeface="Calibri" pitchFamily="34" charset="-122"/>
                <a:cs typeface="Calibri" pitchFamily="34" charset="-120"/>
              </a:rPr>
              <a:t>/</a:t>
            </a:r>
            <a:r>
              <a:rPr lang="en-US" sz="1250" dirty="0" err="1">
                <a:solidFill>
                  <a:srgbClr val="CADCFC"/>
                </a:solidFill>
                <a:latin typeface="Calibri" pitchFamily="34" charset="0"/>
                <a:ea typeface="Calibri" pitchFamily="34" charset="-122"/>
                <a:cs typeface="Calibri" pitchFamily="34" charset="-120"/>
              </a:rPr>
              <a:t>tinystories</a:t>
            </a:r>
            <a:endParaRPr lang="en-US" sz="1250" dirty="0"/>
          </a:p>
        </p:txBody>
      </p:sp>
      <p:sp>
        <p:nvSpPr>
          <p:cNvPr id="15" name="Text 13"/>
          <p:cNvSpPr/>
          <p:nvPr/>
        </p:nvSpPr>
        <p:spPr>
          <a:xfrm>
            <a:off x="749808" y="6263640"/>
            <a:ext cx="7315200" cy="274320"/>
          </a:xfrm>
          <a:prstGeom prst="rect">
            <a:avLst/>
          </a:prstGeom>
          <a:noFill/>
          <a:ln/>
        </p:spPr>
        <p:txBody>
          <a:bodyPr wrap="square" lIns="0" tIns="0" rIns="0" bIns="0" rtlCol="0" anchor="ctr"/>
          <a:lstStyle/>
          <a:p>
            <a:pPr marL="0" indent="0">
              <a:buNone/>
            </a:pPr>
            <a:r>
              <a:rPr lang="en-US" sz="1100" dirty="0">
                <a:solidFill>
                  <a:srgbClr val="7E92B2"/>
                </a:solidFill>
                <a:latin typeface="Calibri" pitchFamily="34" charset="0"/>
                <a:ea typeface="Calibri" pitchFamily="34" charset="-122"/>
                <a:cs typeface="Calibri" pitchFamily="34" charset="-120"/>
              </a:rPr>
              <a:t>Group presentation  ·  29–30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How this talk is structured</a:t>
            </a:r>
            <a:endParaRPr lang="en-US" sz="3000" dirty="0"/>
          </a:p>
        </p:txBody>
      </p:sp>
      <p:sp>
        <p:nvSpPr>
          <p:cNvPr id="5" name="Shape 3"/>
          <p:cNvSpPr/>
          <p:nvPr/>
        </p:nvSpPr>
        <p:spPr>
          <a:xfrm>
            <a:off x="502920" y="1965960"/>
            <a:ext cx="2194560" cy="3017520"/>
          </a:xfrm>
          <a:prstGeom prst="roundRect">
            <a:avLst>
              <a:gd name="adj" fmla="val 333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6" name="Shape 4"/>
          <p:cNvSpPr/>
          <p:nvPr/>
        </p:nvSpPr>
        <p:spPr>
          <a:xfrm>
            <a:off x="1188720" y="2377440"/>
            <a:ext cx="822960" cy="822960"/>
          </a:xfrm>
          <a:prstGeom prst="ellipse">
            <a:avLst/>
          </a:prstGeom>
          <a:solidFill>
            <a:srgbClr val="2A6F97"/>
          </a:solidFill>
          <a:ln/>
        </p:spPr>
        <p:txBody>
          <a:bodyPr/>
          <a:lstStyle/>
          <a:p>
            <a:endParaRPr lang="en-US"/>
          </a:p>
        </p:txBody>
      </p:sp>
      <p:sp>
        <p:nvSpPr>
          <p:cNvPr id="7" name="Text 5"/>
          <p:cNvSpPr/>
          <p:nvPr/>
        </p:nvSpPr>
        <p:spPr>
          <a:xfrm>
            <a:off x="1188720" y="237744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640080" y="3383280"/>
            <a:ext cx="1920240"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Introduction</a:t>
            </a:r>
            <a:endParaRPr lang="en-US" sz="1700" dirty="0"/>
          </a:p>
        </p:txBody>
      </p:sp>
      <p:sp>
        <p:nvSpPr>
          <p:cNvPr id="9" name="Text 7"/>
          <p:cNvSpPr/>
          <p:nvPr/>
        </p:nvSpPr>
        <p:spPr>
          <a:xfrm>
            <a:off x="685800" y="3886200"/>
            <a:ext cx="1828800" cy="100584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The paper and its key contributions</a:t>
            </a:r>
            <a:endParaRPr lang="en-US" sz="1250" dirty="0"/>
          </a:p>
        </p:txBody>
      </p:sp>
      <p:sp>
        <p:nvSpPr>
          <p:cNvPr id="10" name="Shape 8"/>
          <p:cNvSpPr/>
          <p:nvPr/>
        </p:nvSpPr>
        <p:spPr>
          <a:xfrm>
            <a:off x="2816352" y="1965960"/>
            <a:ext cx="2194560" cy="3017520"/>
          </a:xfrm>
          <a:prstGeom prst="roundRect">
            <a:avLst>
              <a:gd name="adj" fmla="val 333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1" name="Shape 9"/>
          <p:cNvSpPr/>
          <p:nvPr/>
        </p:nvSpPr>
        <p:spPr>
          <a:xfrm>
            <a:off x="3502152" y="2377440"/>
            <a:ext cx="822960" cy="822960"/>
          </a:xfrm>
          <a:prstGeom prst="ellipse">
            <a:avLst/>
          </a:prstGeom>
          <a:solidFill>
            <a:srgbClr val="2A9D8F"/>
          </a:solidFill>
          <a:ln/>
        </p:spPr>
        <p:txBody>
          <a:bodyPr/>
          <a:lstStyle/>
          <a:p>
            <a:endParaRPr lang="en-US"/>
          </a:p>
        </p:txBody>
      </p:sp>
      <p:sp>
        <p:nvSpPr>
          <p:cNvPr id="12" name="Text 10"/>
          <p:cNvSpPr/>
          <p:nvPr/>
        </p:nvSpPr>
        <p:spPr>
          <a:xfrm>
            <a:off x="3502152" y="237744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2953512" y="3383280"/>
            <a:ext cx="1920240"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Understanding</a:t>
            </a:r>
            <a:endParaRPr lang="en-US" sz="1700" dirty="0"/>
          </a:p>
        </p:txBody>
      </p:sp>
      <p:sp>
        <p:nvSpPr>
          <p:cNvPr id="14" name="Text 12"/>
          <p:cNvSpPr/>
          <p:nvPr/>
        </p:nvSpPr>
        <p:spPr>
          <a:xfrm>
            <a:off x="2999232" y="3886200"/>
            <a:ext cx="1828800" cy="100584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Dataset, models and the GPT-Eval idea</a:t>
            </a:r>
            <a:endParaRPr lang="en-US" sz="1250" dirty="0"/>
          </a:p>
        </p:txBody>
      </p:sp>
      <p:sp>
        <p:nvSpPr>
          <p:cNvPr id="15" name="Shape 13"/>
          <p:cNvSpPr/>
          <p:nvPr/>
        </p:nvSpPr>
        <p:spPr>
          <a:xfrm>
            <a:off x="5129784" y="1965960"/>
            <a:ext cx="2194560" cy="3017520"/>
          </a:xfrm>
          <a:prstGeom prst="roundRect">
            <a:avLst>
              <a:gd name="adj" fmla="val 333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6" name="Shape 14"/>
          <p:cNvSpPr/>
          <p:nvPr/>
        </p:nvSpPr>
        <p:spPr>
          <a:xfrm>
            <a:off x="5815584" y="2377440"/>
            <a:ext cx="822960" cy="822960"/>
          </a:xfrm>
          <a:prstGeom prst="ellipse">
            <a:avLst/>
          </a:prstGeom>
          <a:solidFill>
            <a:srgbClr val="E8833A"/>
          </a:solidFill>
          <a:ln/>
        </p:spPr>
        <p:txBody>
          <a:bodyPr/>
          <a:lstStyle/>
          <a:p>
            <a:endParaRPr lang="en-US"/>
          </a:p>
        </p:txBody>
      </p:sp>
      <p:sp>
        <p:nvSpPr>
          <p:cNvPr id="17" name="Text 15"/>
          <p:cNvSpPr/>
          <p:nvPr/>
        </p:nvSpPr>
        <p:spPr>
          <a:xfrm>
            <a:off x="5815584" y="237744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5266944" y="3383280"/>
            <a:ext cx="1920240"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Reproduction</a:t>
            </a:r>
            <a:endParaRPr lang="en-US" sz="1700" dirty="0"/>
          </a:p>
        </p:txBody>
      </p:sp>
      <p:sp>
        <p:nvSpPr>
          <p:cNvPr id="19" name="Text 17"/>
          <p:cNvSpPr/>
          <p:nvPr/>
        </p:nvSpPr>
        <p:spPr>
          <a:xfrm>
            <a:off x="5312664" y="3886200"/>
            <a:ext cx="1828800" cy="100584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5 models, GPT-4 grading, memorization</a:t>
            </a:r>
            <a:endParaRPr lang="en-US" sz="1250" dirty="0"/>
          </a:p>
        </p:txBody>
      </p:sp>
      <p:sp>
        <p:nvSpPr>
          <p:cNvPr id="20" name="Shape 18"/>
          <p:cNvSpPr/>
          <p:nvPr/>
        </p:nvSpPr>
        <p:spPr>
          <a:xfrm>
            <a:off x="7443216" y="1965960"/>
            <a:ext cx="2194560" cy="3017520"/>
          </a:xfrm>
          <a:prstGeom prst="roundRect">
            <a:avLst>
              <a:gd name="adj" fmla="val 333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21" name="Shape 19"/>
          <p:cNvSpPr/>
          <p:nvPr/>
        </p:nvSpPr>
        <p:spPr>
          <a:xfrm>
            <a:off x="8129016" y="2377440"/>
            <a:ext cx="822960" cy="822960"/>
          </a:xfrm>
          <a:prstGeom prst="ellipse">
            <a:avLst/>
          </a:prstGeom>
          <a:solidFill>
            <a:srgbClr val="8E5572"/>
          </a:solidFill>
          <a:ln/>
        </p:spPr>
        <p:txBody>
          <a:bodyPr/>
          <a:lstStyle/>
          <a:p>
            <a:endParaRPr lang="en-US"/>
          </a:p>
        </p:txBody>
      </p:sp>
      <p:sp>
        <p:nvSpPr>
          <p:cNvPr id="22" name="Text 20"/>
          <p:cNvSpPr/>
          <p:nvPr/>
        </p:nvSpPr>
        <p:spPr>
          <a:xfrm>
            <a:off x="8129016" y="237744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7580376" y="3383280"/>
            <a:ext cx="1920240"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Extension</a:t>
            </a:r>
            <a:endParaRPr lang="en-US" sz="1700" dirty="0"/>
          </a:p>
        </p:txBody>
      </p:sp>
      <p:sp>
        <p:nvSpPr>
          <p:cNvPr id="24" name="Text 22"/>
          <p:cNvSpPr/>
          <p:nvPr/>
        </p:nvSpPr>
        <p:spPr>
          <a:xfrm>
            <a:off x="7626096" y="3886200"/>
            <a:ext cx="1828800" cy="100584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Our own GPT: Diff-Transformer + GQA</a:t>
            </a:r>
            <a:endParaRPr lang="en-US" sz="1250" dirty="0"/>
          </a:p>
        </p:txBody>
      </p:sp>
      <p:sp>
        <p:nvSpPr>
          <p:cNvPr id="25" name="Shape 23"/>
          <p:cNvSpPr/>
          <p:nvPr/>
        </p:nvSpPr>
        <p:spPr>
          <a:xfrm>
            <a:off x="9756648" y="1965960"/>
            <a:ext cx="2194560" cy="3017520"/>
          </a:xfrm>
          <a:prstGeom prst="roundRect">
            <a:avLst>
              <a:gd name="adj" fmla="val 333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26" name="Shape 24"/>
          <p:cNvSpPr/>
          <p:nvPr/>
        </p:nvSpPr>
        <p:spPr>
          <a:xfrm>
            <a:off x="10442448" y="2377440"/>
            <a:ext cx="822960" cy="822960"/>
          </a:xfrm>
          <a:prstGeom prst="ellipse">
            <a:avLst/>
          </a:prstGeom>
          <a:solidFill>
            <a:srgbClr val="1B2A4A"/>
          </a:solidFill>
          <a:ln/>
        </p:spPr>
        <p:txBody>
          <a:bodyPr/>
          <a:lstStyle/>
          <a:p>
            <a:endParaRPr lang="en-US"/>
          </a:p>
        </p:txBody>
      </p:sp>
      <p:sp>
        <p:nvSpPr>
          <p:cNvPr id="27" name="Text 25"/>
          <p:cNvSpPr/>
          <p:nvPr/>
        </p:nvSpPr>
        <p:spPr>
          <a:xfrm>
            <a:off x="10442448" y="237744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9893808" y="3383280"/>
            <a:ext cx="1920240"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Conclusion</a:t>
            </a:r>
            <a:endParaRPr lang="en-US" sz="1700" dirty="0"/>
          </a:p>
        </p:txBody>
      </p:sp>
      <p:sp>
        <p:nvSpPr>
          <p:cNvPr id="29" name="Text 27"/>
          <p:cNvSpPr/>
          <p:nvPr/>
        </p:nvSpPr>
        <p:spPr>
          <a:xfrm>
            <a:off x="9939528" y="3886200"/>
            <a:ext cx="1828800" cy="100584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Reproducibility verdict &amp; future work</a:t>
            </a:r>
            <a:endParaRPr lang="en-US" sz="1250" dirty="0"/>
          </a:p>
        </p:txBody>
      </p:sp>
      <p:sp>
        <p:nvSpPr>
          <p:cNvPr id="31" name="Text 2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32" name="Text 30"/>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2A6F97"/>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2A6F97"/>
                </a:solidFill>
                <a:latin typeface="Calibri" pitchFamily="34" charset="0"/>
                <a:ea typeface="Calibri" pitchFamily="34" charset="-122"/>
                <a:cs typeface="Calibri" pitchFamily="34" charset="-120"/>
              </a:rPr>
              <a:t>1 · INTRODUCTION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The paper &amp; its key contributions</a:t>
            </a:r>
            <a:endParaRPr lang="en-US" sz="3000" dirty="0"/>
          </a:p>
        </p:txBody>
      </p:sp>
      <p:sp>
        <p:nvSpPr>
          <p:cNvPr id="5" name="Text 3"/>
          <p:cNvSpPr/>
          <p:nvPr/>
        </p:nvSpPr>
        <p:spPr>
          <a:xfrm>
            <a:off x="502920" y="1737360"/>
            <a:ext cx="6583680" cy="1371600"/>
          </a:xfrm>
          <a:prstGeom prst="rect">
            <a:avLst/>
          </a:prstGeom>
          <a:noFill/>
          <a:ln/>
        </p:spPr>
        <p:txBody>
          <a:bodyPr wrap="square" lIns="0" tIns="0" rIns="0" bIns="0" rtlCol="0" anchor="t"/>
          <a:lstStyle/>
          <a:p>
            <a:pPr marL="0" indent="0">
              <a:lnSpc>
                <a:spcPct val="115000"/>
              </a:lnSpc>
              <a:buNone/>
            </a:pPr>
            <a:r>
              <a:rPr lang="en-US" sz="1600" b="1" dirty="0">
                <a:solidFill>
                  <a:srgbClr val="1B2A4A"/>
                </a:solidFill>
                <a:latin typeface="Calibri" pitchFamily="34" charset="0"/>
                <a:ea typeface="Calibri" pitchFamily="34" charset="-122"/>
                <a:cs typeface="Calibri" pitchFamily="34" charset="-120"/>
              </a:rPr>
              <a:t>TinyStories</a:t>
            </a:r>
            <a:r>
              <a:rPr lang="en-US" sz="1600" dirty="0">
                <a:solidFill>
                  <a:srgbClr val="24344D"/>
                </a:solidFill>
                <a:latin typeface="Calibri" pitchFamily="34" charset="0"/>
                <a:ea typeface="Calibri" pitchFamily="34" charset="-122"/>
                <a:cs typeface="Calibri" pitchFamily="34" charset="-120"/>
              </a:rPr>
              <a:t> is a synthetic dataset of short children's stories — written by GPT-3.5/4 using only words a 3–4-year-old understands. It asks the following question: do we need billions of parameters for fluent, coherent English, or is the </a:t>
            </a:r>
            <a:r>
              <a:rPr lang="en-US" sz="1600" b="1" dirty="0">
                <a:solidFill>
                  <a:srgbClr val="E8833A"/>
                </a:solidFill>
                <a:latin typeface="Calibri" pitchFamily="34" charset="0"/>
                <a:ea typeface="Calibri" pitchFamily="34" charset="-122"/>
                <a:cs typeface="Calibri" pitchFamily="34" charset="-120"/>
              </a:rPr>
              <a:t>data distribution</a:t>
            </a:r>
            <a:r>
              <a:rPr lang="en-US" sz="1600" dirty="0">
                <a:solidFill>
                  <a:srgbClr val="24344D"/>
                </a:solidFill>
                <a:latin typeface="Calibri" pitchFamily="34" charset="0"/>
                <a:ea typeface="Calibri" pitchFamily="34" charset="-122"/>
                <a:cs typeface="Calibri" pitchFamily="34" charset="-120"/>
              </a:rPr>
              <a:t> the real bottleneck?</a:t>
            </a:r>
            <a:endParaRPr lang="en-US" sz="1600" dirty="0"/>
          </a:p>
        </p:txBody>
      </p:sp>
      <p:sp>
        <p:nvSpPr>
          <p:cNvPr id="6" name="Shape 4"/>
          <p:cNvSpPr/>
          <p:nvPr/>
        </p:nvSpPr>
        <p:spPr>
          <a:xfrm>
            <a:off x="7360920" y="1536192"/>
            <a:ext cx="434340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Shape 5"/>
          <p:cNvSpPr/>
          <p:nvPr/>
        </p:nvSpPr>
        <p:spPr>
          <a:xfrm>
            <a:off x="7562088" y="1783080"/>
            <a:ext cx="128016" cy="128016"/>
          </a:xfrm>
          <a:prstGeom prst="ellipse">
            <a:avLst/>
          </a:prstGeom>
          <a:solidFill>
            <a:srgbClr val="2A6F97"/>
          </a:solidFill>
          <a:ln/>
        </p:spPr>
        <p:txBody>
          <a:bodyPr/>
          <a:lstStyle/>
          <a:p>
            <a:endParaRPr lang="en-US"/>
          </a:p>
        </p:txBody>
      </p:sp>
      <p:sp>
        <p:nvSpPr>
          <p:cNvPr id="8" name="Text 6"/>
          <p:cNvSpPr/>
          <p:nvPr/>
        </p:nvSpPr>
        <p:spPr>
          <a:xfrm>
            <a:off x="7818120" y="1655064"/>
            <a:ext cx="370332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 purpose-built dataset</a:t>
            </a:r>
            <a:endParaRPr lang="en-US" sz="1450" dirty="0"/>
          </a:p>
        </p:txBody>
      </p:sp>
      <p:sp>
        <p:nvSpPr>
          <p:cNvPr id="9" name="Text 7"/>
          <p:cNvSpPr/>
          <p:nvPr/>
        </p:nvSpPr>
        <p:spPr>
          <a:xfrm>
            <a:off x="7818120" y="1993392"/>
            <a:ext cx="3657600" cy="64008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Stories constrained to a toddler-level vocabulary, diverse yet simple enough for tiny models to actually master.</a:t>
            </a:r>
            <a:endParaRPr lang="en-US" sz="1150" dirty="0"/>
          </a:p>
        </p:txBody>
      </p:sp>
      <p:sp>
        <p:nvSpPr>
          <p:cNvPr id="10" name="Shape 8"/>
          <p:cNvSpPr/>
          <p:nvPr/>
        </p:nvSpPr>
        <p:spPr>
          <a:xfrm>
            <a:off x="7360920" y="2752344"/>
            <a:ext cx="434340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1" name="Shape 9"/>
          <p:cNvSpPr/>
          <p:nvPr/>
        </p:nvSpPr>
        <p:spPr>
          <a:xfrm>
            <a:off x="7562088" y="2999232"/>
            <a:ext cx="128016" cy="128016"/>
          </a:xfrm>
          <a:prstGeom prst="ellipse">
            <a:avLst/>
          </a:prstGeom>
          <a:solidFill>
            <a:srgbClr val="2A9D8F"/>
          </a:solidFill>
          <a:ln/>
        </p:spPr>
        <p:txBody>
          <a:bodyPr/>
          <a:lstStyle/>
          <a:p>
            <a:endParaRPr lang="en-US"/>
          </a:p>
        </p:txBody>
      </p:sp>
      <p:sp>
        <p:nvSpPr>
          <p:cNvPr id="12" name="Text 10"/>
          <p:cNvSpPr/>
          <p:nvPr/>
        </p:nvSpPr>
        <p:spPr>
          <a:xfrm>
            <a:off x="7818120" y="2871216"/>
            <a:ext cx="370332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Tiny models, real fluency</a:t>
            </a:r>
            <a:endParaRPr lang="en-US" sz="1450" dirty="0"/>
          </a:p>
        </p:txBody>
      </p:sp>
      <p:sp>
        <p:nvSpPr>
          <p:cNvPr id="13" name="Text 11"/>
          <p:cNvSpPr/>
          <p:nvPr/>
        </p:nvSpPr>
        <p:spPr>
          <a:xfrm>
            <a:off x="7818120" y="3209544"/>
            <a:ext cx="3657600" cy="64008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Models far below 10M parameters — even very shallow ones — generate grammatical, on-topic, multi-sentence stories.</a:t>
            </a:r>
            <a:endParaRPr lang="en-US" sz="1150" dirty="0"/>
          </a:p>
        </p:txBody>
      </p:sp>
      <p:sp>
        <p:nvSpPr>
          <p:cNvPr id="14" name="Shape 12"/>
          <p:cNvSpPr/>
          <p:nvPr/>
        </p:nvSpPr>
        <p:spPr>
          <a:xfrm>
            <a:off x="7360920" y="3968496"/>
            <a:ext cx="434340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5" name="Shape 13"/>
          <p:cNvSpPr/>
          <p:nvPr/>
        </p:nvSpPr>
        <p:spPr>
          <a:xfrm>
            <a:off x="7562088" y="4215384"/>
            <a:ext cx="128016" cy="128016"/>
          </a:xfrm>
          <a:prstGeom prst="ellipse">
            <a:avLst/>
          </a:prstGeom>
          <a:solidFill>
            <a:srgbClr val="E8833A"/>
          </a:solidFill>
          <a:ln/>
        </p:spPr>
        <p:txBody>
          <a:bodyPr/>
          <a:lstStyle/>
          <a:p>
            <a:endParaRPr lang="en-US"/>
          </a:p>
        </p:txBody>
      </p:sp>
      <p:sp>
        <p:nvSpPr>
          <p:cNvPr id="16" name="Text 14"/>
          <p:cNvSpPr/>
          <p:nvPr/>
        </p:nvSpPr>
        <p:spPr>
          <a:xfrm>
            <a:off x="7818120" y="4087368"/>
            <a:ext cx="370332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GPT-4 as evaluator</a:t>
            </a:r>
            <a:endParaRPr lang="en-US" sz="1450" dirty="0"/>
          </a:p>
        </p:txBody>
      </p:sp>
      <p:sp>
        <p:nvSpPr>
          <p:cNvPr id="17" name="Text 15"/>
          <p:cNvSpPr/>
          <p:nvPr/>
        </p:nvSpPr>
        <p:spPr>
          <a:xfrm>
            <a:off x="7818120" y="4425696"/>
            <a:ext cx="3657600" cy="64008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Standard metrics miss coherence; instead GPT-4 grades grammar, creativity &amp; consistency of open-ended completions.</a:t>
            </a:r>
            <a:endParaRPr lang="en-US" sz="1150" dirty="0"/>
          </a:p>
        </p:txBody>
      </p:sp>
      <p:sp>
        <p:nvSpPr>
          <p:cNvPr id="18" name="Shape 16"/>
          <p:cNvSpPr/>
          <p:nvPr/>
        </p:nvSpPr>
        <p:spPr>
          <a:xfrm>
            <a:off x="7360920" y="5184648"/>
            <a:ext cx="434340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9" name="Shape 17"/>
          <p:cNvSpPr/>
          <p:nvPr/>
        </p:nvSpPr>
        <p:spPr>
          <a:xfrm>
            <a:off x="7562088" y="5431536"/>
            <a:ext cx="128016" cy="128016"/>
          </a:xfrm>
          <a:prstGeom prst="ellipse">
            <a:avLst/>
          </a:prstGeom>
          <a:solidFill>
            <a:srgbClr val="8E5572"/>
          </a:solidFill>
          <a:ln/>
        </p:spPr>
        <p:txBody>
          <a:bodyPr/>
          <a:lstStyle/>
          <a:p>
            <a:endParaRPr lang="en-US"/>
          </a:p>
        </p:txBody>
      </p:sp>
      <p:sp>
        <p:nvSpPr>
          <p:cNvPr id="20" name="Text 18"/>
          <p:cNvSpPr/>
          <p:nvPr/>
        </p:nvSpPr>
        <p:spPr>
          <a:xfrm>
            <a:off x="7818120" y="5303520"/>
            <a:ext cx="370332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 lab for emergence</a:t>
            </a:r>
            <a:endParaRPr lang="en-US" sz="1450" dirty="0"/>
          </a:p>
        </p:txBody>
      </p:sp>
      <p:sp>
        <p:nvSpPr>
          <p:cNvPr id="21" name="Text 19"/>
          <p:cNvSpPr/>
          <p:nvPr/>
        </p:nvSpPr>
        <p:spPr>
          <a:xfrm>
            <a:off x="7818120" y="5641848"/>
            <a:ext cx="3657600" cy="64008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Small scale makes capabilities — and how they appear with size/depth — interpretable and cheap to study.</a:t>
            </a:r>
            <a:endParaRPr lang="en-US" sz="1150" dirty="0"/>
          </a:p>
        </p:txBody>
      </p:sp>
      <p:sp>
        <p:nvSpPr>
          <p:cNvPr id="22" name="Shape 20"/>
          <p:cNvSpPr/>
          <p:nvPr/>
        </p:nvSpPr>
        <p:spPr>
          <a:xfrm>
            <a:off x="502920" y="3383280"/>
            <a:ext cx="6583680" cy="2331720"/>
          </a:xfrm>
          <a:prstGeom prst="roundRect">
            <a:avLst>
              <a:gd name="adj" fmla="val 3137"/>
            </a:avLst>
          </a:prstGeom>
          <a:solidFill>
            <a:srgbClr val="1B2A4A"/>
          </a:solidFill>
          <a:ln/>
          <a:effectLst>
            <a:outerShdw blurRad="88900" dist="38100" dir="5400000" algn="bl" rotWithShape="0">
              <a:srgbClr val="1B2A4A">
                <a:alpha val="12000"/>
              </a:srgbClr>
            </a:outerShdw>
          </a:effectLst>
        </p:spPr>
        <p:txBody>
          <a:bodyPr/>
          <a:lstStyle/>
          <a:p>
            <a:endParaRPr lang="en-US"/>
          </a:p>
        </p:txBody>
      </p:sp>
      <p:sp>
        <p:nvSpPr>
          <p:cNvPr id="23" name="Text 21"/>
          <p:cNvSpPr/>
          <p:nvPr/>
        </p:nvSpPr>
        <p:spPr>
          <a:xfrm>
            <a:off x="868680" y="3611880"/>
            <a:ext cx="5486400" cy="274320"/>
          </a:xfrm>
          <a:prstGeom prst="rect">
            <a:avLst/>
          </a:prstGeom>
          <a:noFill/>
          <a:ln/>
        </p:spPr>
        <p:txBody>
          <a:bodyPr wrap="square" lIns="0" tIns="0" rIns="0" bIns="0" rtlCol="0" anchor="ctr"/>
          <a:lstStyle/>
          <a:p>
            <a:pPr marL="0" indent="0">
              <a:buNone/>
            </a:pPr>
            <a:r>
              <a:rPr lang="en-US" sz="1100" b="1" kern="0" spc="150" dirty="0">
                <a:solidFill>
                  <a:srgbClr val="E8833A"/>
                </a:solidFill>
                <a:latin typeface="Calibri" pitchFamily="34" charset="0"/>
                <a:ea typeface="Calibri" pitchFamily="34" charset="-122"/>
                <a:cs typeface="Calibri" pitchFamily="34" charset="-120"/>
              </a:rPr>
              <a:t>THE CENTRAL RESULT</a:t>
            </a:r>
            <a:endParaRPr lang="en-US" sz="1100" dirty="0"/>
          </a:p>
        </p:txBody>
      </p:sp>
      <p:sp>
        <p:nvSpPr>
          <p:cNvPr id="24" name="Text 22"/>
          <p:cNvSpPr/>
          <p:nvPr/>
        </p:nvSpPr>
        <p:spPr>
          <a:xfrm>
            <a:off x="868680" y="3977640"/>
            <a:ext cx="5852160" cy="1554480"/>
          </a:xfrm>
          <a:prstGeom prst="rect">
            <a:avLst/>
          </a:prstGeom>
          <a:noFill/>
          <a:ln/>
        </p:spPr>
        <p:txBody>
          <a:bodyPr wrap="square" lIns="0" tIns="0" rIns="0" bIns="0" rtlCol="0" anchor="t"/>
          <a:lstStyle/>
          <a:p>
            <a:pPr marL="0" indent="0">
              <a:lnSpc>
                <a:spcPct val="112000"/>
              </a:lnSpc>
              <a:buNone/>
            </a:pPr>
            <a:r>
              <a:rPr lang="en-US" sz="1600" b="1" dirty="0">
                <a:solidFill>
                  <a:srgbClr val="FFFFFF"/>
                </a:solidFill>
                <a:latin typeface="Calibri" pitchFamily="34" charset="0"/>
                <a:ea typeface="Calibri" pitchFamily="34" charset="-122"/>
                <a:cs typeface="Calibri" pitchFamily="34" charset="-120"/>
              </a:rPr>
              <a:t>Quality is mostly a data problem.</a:t>
            </a:r>
            <a:endParaRPr lang="en-US" sz="1600" dirty="0"/>
          </a:p>
          <a:p>
            <a:pPr marL="0" indent="0">
              <a:lnSpc>
                <a:spcPct val="112000"/>
              </a:lnSpc>
              <a:buNone/>
            </a:pPr>
            <a:r>
              <a:rPr lang="en-US" sz="1600" dirty="0">
                <a:solidFill>
                  <a:srgbClr val="CADCFC"/>
                </a:solidFill>
                <a:latin typeface="Calibri" pitchFamily="34" charset="0"/>
                <a:ea typeface="Calibri" pitchFamily="34" charset="-122"/>
                <a:cs typeface="Calibri" pitchFamily="34" charset="-120"/>
              </a:rPr>
              <a:t>Trained on the right distribution, models 100–1000× smaller than GPT-2 still produce consistent, creative, grammatical stories — and scale up gracefully.</a:t>
            </a:r>
            <a:endParaRPr lang="en-US" sz="1600" dirty="0"/>
          </a:p>
        </p:txBody>
      </p:sp>
      <p:sp>
        <p:nvSpPr>
          <p:cNvPr id="25" name="Text 23"/>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26" name="Text 24"/>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2A9D8F"/>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2A9D8F"/>
                </a:solidFill>
                <a:latin typeface="Calibri" pitchFamily="34" charset="0"/>
                <a:ea typeface="Calibri" pitchFamily="34" charset="-122"/>
                <a:cs typeface="Calibri" pitchFamily="34" charset="-120"/>
              </a:rPr>
              <a:t>2 · UNDERSTANDING</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Core concepts: data, model, evaluation</a:t>
            </a:r>
            <a:endParaRPr lang="en-US" sz="3000" dirty="0"/>
          </a:p>
        </p:txBody>
      </p:sp>
      <p:sp>
        <p:nvSpPr>
          <p:cNvPr id="5" name="Shape 3"/>
          <p:cNvSpPr/>
          <p:nvPr/>
        </p:nvSpPr>
        <p:spPr>
          <a:xfrm>
            <a:off x="502920" y="1691640"/>
            <a:ext cx="3657600" cy="3383280"/>
          </a:xfrm>
          <a:prstGeom prst="roundRect">
            <a:avLst>
              <a:gd name="adj" fmla="val 2162"/>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6" name="Shape 4"/>
          <p:cNvSpPr/>
          <p:nvPr/>
        </p:nvSpPr>
        <p:spPr>
          <a:xfrm>
            <a:off x="777240" y="1984248"/>
            <a:ext cx="566928" cy="566928"/>
          </a:xfrm>
          <a:prstGeom prst="ellipse">
            <a:avLst/>
          </a:prstGeom>
          <a:solidFill>
            <a:srgbClr val="2A9D8F"/>
          </a:solidFill>
          <a:ln/>
        </p:spPr>
        <p:txBody>
          <a:bodyPr/>
          <a:lstStyle/>
          <a:p>
            <a:endParaRPr lang="en-US"/>
          </a:p>
        </p:txBody>
      </p:sp>
      <p:sp>
        <p:nvSpPr>
          <p:cNvPr id="7" name="Text 5"/>
          <p:cNvSpPr/>
          <p:nvPr/>
        </p:nvSpPr>
        <p:spPr>
          <a:xfrm>
            <a:off x="777240" y="19842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8" name="Text 6"/>
          <p:cNvSpPr/>
          <p:nvPr/>
        </p:nvSpPr>
        <p:spPr>
          <a:xfrm>
            <a:off x="1463040" y="2020824"/>
            <a:ext cx="2560320" cy="50292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The dataset</a:t>
            </a:r>
            <a:endParaRPr lang="en-US" sz="1800" dirty="0"/>
          </a:p>
        </p:txBody>
      </p:sp>
      <p:sp>
        <p:nvSpPr>
          <p:cNvPr id="9" name="Text 7"/>
          <p:cNvSpPr/>
          <p:nvPr/>
        </p:nvSpPr>
        <p:spPr>
          <a:xfrm>
            <a:off x="822960" y="2788920"/>
            <a:ext cx="310896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Short, self-contained stories using a small, child-level vocabulary</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Generated by GPT-3.5/4 with prompts that inject random words &amp; features for diversity</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In-distribution &amp; learnable — the key enabler for tiny models</a:t>
            </a:r>
            <a:endParaRPr lang="en-US" sz="1300" dirty="0"/>
          </a:p>
        </p:txBody>
      </p:sp>
      <p:sp>
        <p:nvSpPr>
          <p:cNvPr id="10" name="Shape 8"/>
          <p:cNvSpPr/>
          <p:nvPr/>
        </p:nvSpPr>
        <p:spPr>
          <a:xfrm>
            <a:off x="4352544" y="1691640"/>
            <a:ext cx="3657600" cy="3383280"/>
          </a:xfrm>
          <a:prstGeom prst="roundRect">
            <a:avLst>
              <a:gd name="adj" fmla="val 2162"/>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1" name="Shape 9"/>
          <p:cNvSpPr/>
          <p:nvPr/>
        </p:nvSpPr>
        <p:spPr>
          <a:xfrm>
            <a:off x="4626864" y="1984248"/>
            <a:ext cx="566928" cy="566928"/>
          </a:xfrm>
          <a:prstGeom prst="ellipse">
            <a:avLst/>
          </a:prstGeom>
          <a:solidFill>
            <a:srgbClr val="2A6F97"/>
          </a:solidFill>
          <a:ln/>
        </p:spPr>
        <p:txBody>
          <a:bodyPr/>
          <a:lstStyle/>
          <a:p>
            <a:endParaRPr lang="en-US"/>
          </a:p>
        </p:txBody>
      </p:sp>
      <p:sp>
        <p:nvSpPr>
          <p:cNvPr id="12" name="Text 10"/>
          <p:cNvSpPr/>
          <p:nvPr/>
        </p:nvSpPr>
        <p:spPr>
          <a:xfrm>
            <a:off x="4626864" y="19842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5312664" y="2020824"/>
            <a:ext cx="2560320" cy="50292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The model</a:t>
            </a:r>
            <a:endParaRPr lang="en-US" sz="1800" dirty="0"/>
          </a:p>
        </p:txBody>
      </p:sp>
      <p:sp>
        <p:nvSpPr>
          <p:cNvPr id="14" name="Text 12"/>
          <p:cNvSpPr/>
          <p:nvPr/>
        </p:nvSpPr>
        <p:spPr>
          <a:xfrm>
            <a:off x="4672584" y="2788920"/>
            <a:ext cx="310896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Plain GPT-style decoder-only transformers</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Scaled along two axes: width (parameters) and depth (layers)</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Trained with next-token prediction on the story corpus</a:t>
            </a:r>
            <a:endParaRPr lang="en-US" sz="1300" dirty="0"/>
          </a:p>
        </p:txBody>
      </p:sp>
      <p:sp>
        <p:nvSpPr>
          <p:cNvPr id="15" name="Shape 13"/>
          <p:cNvSpPr/>
          <p:nvPr/>
        </p:nvSpPr>
        <p:spPr>
          <a:xfrm>
            <a:off x="8202168" y="1691640"/>
            <a:ext cx="3657600" cy="3383280"/>
          </a:xfrm>
          <a:prstGeom prst="roundRect">
            <a:avLst>
              <a:gd name="adj" fmla="val 2162"/>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6" name="Shape 14"/>
          <p:cNvSpPr/>
          <p:nvPr/>
        </p:nvSpPr>
        <p:spPr>
          <a:xfrm>
            <a:off x="8476488" y="1984248"/>
            <a:ext cx="566928" cy="566928"/>
          </a:xfrm>
          <a:prstGeom prst="ellipse">
            <a:avLst/>
          </a:prstGeom>
          <a:solidFill>
            <a:srgbClr val="E8833A"/>
          </a:solidFill>
          <a:ln/>
        </p:spPr>
        <p:txBody>
          <a:bodyPr/>
          <a:lstStyle/>
          <a:p>
            <a:endParaRPr lang="en-US"/>
          </a:p>
        </p:txBody>
      </p:sp>
      <p:sp>
        <p:nvSpPr>
          <p:cNvPr id="17" name="Text 15"/>
          <p:cNvSpPr/>
          <p:nvPr/>
        </p:nvSpPr>
        <p:spPr>
          <a:xfrm>
            <a:off x="8476488" y="19842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8" name="Text 16"/>
          <p:cNvSpPr/>
          <p:nvPr/>
        </p:nvSpPr>
        <p:spPr>
          <a:xfrm>
            <a:off x="9162288" y="2020824"/>
            <a:ext cx="2560320" cy="50292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The evaluation</a:t>
            </a:r>
            <a:endParaRPr lang="en-US" sz="1800" dirty="0"/>
          </a:p>
        </p:txBody>
      </p:sp>
      <p:sp>
        <p:nvSpPr>
          <p:cNvPr id="19" name="Text 17"/>
          <p:cNvSpPr/>
          <p:nvPr/>
        </p:nvSpPr>
        <p:spPr>
          <a:xfrm>
            <a:off x="8522208" y="2788920"/>
            <a:ext cx="310896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BLEU / perplexity don't capture story coherence</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Feed prompt beginnings → let the model complete the story</a:t>
            </a:r>
            <a:endParaRPr lang="en-US" sz="1300" dirty="0"/>
          </a:p>
          <a:p>
            <a:pPr marL="177800" indent="-177800">
              <a:spcAft>
                <a:spcPts val="800"/>
              </a:spcAft>
              <a:buSzPct val="100000"/>
              <a:buChar char="•"/>
            </a:pPr>
            <a:r>
              <a:rPr lang="en-US" sz="1300" dirty="0">
                <a:solidFill>
                  <a:srgbClr val="24344D"/>
                </a:solidFill>
                <a:latin typeface="Calibri" pitchFamily="34" charset="0"/>
                <a:ea typeface="Calibri" pitchFamily="34" charset="-122"/>
                <a:cs typeface="Calibri" pitchFamily="34" charset="-120"/>
              </a:rPr>
              <a:t>GPT-4 grades the completion like a teacher grading a pupil</a:t>
            </a:r>
            <a:endParaRPr lang="en-US" sz="1300" dirty="0"/>
          </a:p>
        </p:txBody>
      </p:sp>
      <p:sp>
        <p:nvSpPr>
          <p:cNvPr id="20" name="Shape 18"/>
          <p:cNvSpPr/>
          <p:nvPr/>
        </p:nvSpPr>
        <p:spPr>
          <a:xfrm>
            <a:off x="502920" y="5349240"/>
            <a:ext cx="11183112" cy="841248"/>
          </a:xfrm>
          <a:prstGeom prst="roundRect">
            <a:avLst>
              <a:gd name="adj" fmla="val 8696"/>
            </a:avLst>
          </a:prstGeom>
          <a:solidFill>
            <a:srgbClr val="EEF3FA"/>
          </a:solidFill>
          <a:ln/>
        </p:spPr>
        <p:txBody>
          <a:bodyPr/>
          <a:lstStyle/>
          <a:p>
            <a:endParaRPr lang="en-US"/>
          </a:p>
        </p:txBody>
      </p:sp>
      <p:sp>
        <p:nvSpPr>
          <p:cNvPr id="21" name="Text 19"/>
          <p:cNvSpPr/>
          <p:nvPr/>
        </p:nvSpPr>
        <p:spPr>
          <a:xfrm>
            <a:off x="777240" y="5349240"/>
            <a:ext cx="10698480" cy="841248"/>
          </a:xfrm>
          <a:prstGeom prst="rect">
            <a:avLst/>
          </a:prstGeom>
          <a:noFill/>
          <a:ln/>
        </p:spPr>
        <p:txBody>
          <a:bodyPr wrap="square" lIns="0" tIns="0" rIns="0" bIns="0" rtlCol="0" anchor="ctr"/>
          <a:lstStyle/>
          <a:p>
            <a:pPr marL="0" indent="0">
              <a:buNone/>
            </a:pPr>
            <a:r>
              <a:rPr lang="en-US" sz="1400" b="1" dirty="0">
                <a:solidFill>
                  <a:srgbClr val="E8833A"/>
                </a:solidFill>
                <a:latin typeface="Calibri" pitchFamily="34" charset="0"/>
                <a:ea typeface="Calibri" pitchFamily="34" charset="-122"/>
                <a:cs typeface="Calibri" pitchFamily="34" charset="-120"/>
              </a:rPr>
              <a:t>Why it matters:  </a:t>
            </a:r>
            <a:r>
              <a:rPr lang="en-US" sz="1400" dirty="0">
                <a:solidFill>
                  <a:srgbClr val="24344D"/>
                </a:solidFill>
                <a:latin typeface="Calibri" pitchFamily="34" charset="0"/>
                <a:ea typeface="Calibri" pitchFamily="34" charset="-122"/>
                <a:cs typeface="Calibri" pitchFamily="34" charset="-120"/>
              </a:rPr>
              <a:t>this turns language-model behaviour into something you can study on a single GPU — and grade objectively enough to compare model sizes.</a:t>
            </a:r>
            <a:endParaRPr lang="en-US" sz="1400" dirty="0"/>
          </a:p>
        </p:txBody>
      </p:sp>
      <p:sp>
        <p:nvSpPr>
          <p:cNvPr id="22" name="Text 2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23" name="Text 21"/>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2A9D8F"/>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2A9D8F"/>
                </a:solidFill>
                <a:latin typeface="Calibri" pitchFamily="34" charset="0"/>
                <a:ea typeface="Calibri" pitchFamily="34" charset="-122"/>
                <a:cs typeface="Calibri" pitchFamily="34" charset="-120"/>
              </a:rPr>
              <a:t>2 · UNDERSTANDING</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The GPT-Eval protocol &amp; the claims we test</a:t>
            </a:r>
            <a:endParaRPr lang="en-US" sz="3000" dirty="0"/>
          </a:p>
        </p:txBody>
      </p:sp>
      <p:sp>
        <p:nvSpPr>
          <p:cNvPr id="5" name="Text 3"/>
          <p:cNvSpPr/>
          <p:nvPr/>
        </p:nvSpPr>
        <p:spPr>
          <a:xfrm>
            <a:off x="502920" y="1645920"/>
            <a:ext cx="5486400" cy="274320"/>
          </a:xfrm>
          <a:prstGeom prst="rect">
            <a:avLst/>
          </a:prstGeom>
          <a:noFill/>
          <a:ln/>
        </p:spPr>
        <p:txBody>
          <a:bodyPr wrap="square" lIns="0" tIns="0" rIns="0" bIns="0" rtlCol="0" anchor="ctr"/>
          <a:lstStyle/>
          <a:p>
            <a:pPr marL="0" indent="0">
              <a:buNone/>
            </a:pPr>
            <a:r>
              <a:rPr lang="en-US" sz="1200" b="1" kern="0" spc="100" dirty="0">
                <a:solidFill>
                  <a:srgbClr val="2A9D8F"/>
                </a:solidFill>
                <a:latin typeface="Calibri" pitchFamily="34" charset="0"/>
                <a:ea typeface="Calibri" pitchFamily="34" charset="-122"/>
                <a:cs typeface="Calibri" pitchFamily="34" charset="-120"/>
              </a:rPr>
              <a:t>THE GPT-EVAL PIPELINE</a:t>
            </a:r>
            <a:endParaRPr lang="en-US" sz="1200" dirty="0"/>
          </a:p>
        </p:txBody>
      </p:sp>
      <p:sp>
        <p:nvSpPr>
          <p:cNvPr id="6" name="Shape 4"/>
          <p:cNvSpPr/>
          <p:nvPr/>
        </p:nvSpPr>
        <p:spPr>
          <a:xfrm>
            <a:off x="502920" y="2057400"/>
            <a:ext cx="5074920" cy="868680"/>
          </a:xfrm>
          <a:prstGeom prst="roundRect">
            <a:avLst>
              <a:gd name="adj" fmla="val 8421"/>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Shape 5"/>
          <p:cNvSpPr/>
          <p:nvPr/>
        </p:nvSpPr>
        <p:spPr>
          <a:xfrm>
            <a:off x="713232" y="2267712"/>
            <a:ext cx="457200" cy="457200"/>
          </a:xfrm>
          <a:prstGeom prst="ellipse">
            <a:avLst/>
          </a:prstGeom>
          <a:solidFill>
            <a:srgbClr val="2A6F97"/>
          </a:solidFill>
          <a:ln/>
        </p:spPr>
        <p:txBody>
          <a:bodyPr/>
          <a:lstStyle/>
          <a:p>
            <a:endParaRPr lang="en-US"/>
          </a:p>
        </p:txBody>
      </p:sp>
      <p:sp>
        <p:nvSpPr>
          <p:cNvPr id="8" name="Text 6"/>
          <p:cNvSpPr/>
          <p:nvPr/>
        </p:nvSpPr>
        <p:spPr>
          <a:xfrm>
            <a:off x="713232" y="226771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1325880" y="2176272"/>
            <a:ext cx="411480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Prompt beginnings</a:t>
            </a:r>
            <a:endParaRPr lang="en-US" sz="1450" dirty="0"/>
          </a:p>
        </p:txBody>
      </p:sp>
      <p:sp>
        <p:nvSpPr>
          <p:cNvPr id="10" name="Text 8"/>
          <p:cNvSpPr/>
          <p:nvPr/>
        </p:nvSpPr>
        <p:spPr>
          <a:xfrm>
            <a:off x="1325880" y="2496312"/>
            <a:ext cx="411480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Hand-written story openings (50 prompts)</a:t>
            </a:r>
            <a:endParaRPr lang="en-US" sz="1150" dirty="0"/>
          </a:p>
        </p:txBody>
      </p:sp>
      <p:sp>
        <p:nvSpPr>
          <p:cNvPr id="11" name="Text 9"/>
          <p:cNvSpPr/>
          <p:nvPr/>
        </p:nvSpPr>
        <p:spPr>
          <a:xfrm>
            <a:off x="850392" y="2907792"/>
            <a:ext cx="274320" cy="201168"/>
          </a:xfrm>
          <a:prstGeom prst="rect">
            <a:avLst/>
          </a:prstGeom>
          <a:noFill/>
          <a:ln/>
        </p:spPr>
        <p:txBody>
          <a:bodyPr wrap="square" lIns="0" tIns="0" rIns="0" bIns="0" rtlCol="0" anchor="ctr"/>
          <a:lstStyle/>
          <a:p>
            <a:pPr marL="0" indent="0" algn="ctr">
              <a:buNone/>
            </a:pPr>
            <a:r>
              <a:rPr lang="en-US" sz="1100" dirty="0">
                <a:solidFill>
                  <a:srgbClr val="D8E0EC"/>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502920" y="3136392"/>
            <a:ext cx="5074920" cy="868680"/>
          </a:xfrm>
          <a:prstGeom prst="roundRect">
            <a:avLst>
              <a:gd name="adj" fmla="val 8421"/>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3" name="Shape 11"/>
          <p:cNvSpPr/>
          <p:nvPr/>
        </p:nvSpPr>
        <p:spPr>
          <a:xfrm>
            <a:off x="713232" y="3346704"/>
            <a:ext cx="457200" cy="457200"/>
          </a:xfrm>
          <a:prstGeom prst="ellipse">
            <a:avLst/>
          </a:prstGeom>
          <a:solidFill>
            <a:srgbClr val="2A9D8F"/>
          </a:solidFill>
          <a:ln/>
        </p:spPr>
        <p:txBody>
          <a:bodyPr/>
          <a:lstStyle/>
          <a:p>
            <a:endParaRPr lang="en-US"/>
          </a:p>
        </p:txBody>
      </p:sp>
      <p:sp>
        <p:nvSpPr>
          <p:cNvPr id="14" name="Text 12"/>
          <p:cNvSpPr/>
          <p:nvPr/>
        </p:nvSpPr>
        <p:spPr>
          <a:xfrm>
            <a:off x="713232" y="33467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1325880" y="3255264"/>
            <a:ext cx="411480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Generate</a:t>
            </a:r>
            <a:endParaRPr lang="en-US" sz="1450" dirty="0"/>
          </a:p>
        </p:txBody>
      </p:sp>
      <p:sp>
        <p:nvSpPr>
          <p:cNvPr id="16" name="Text 14"/>
          <p:cNvSpPr/>
          <p:nvPr/>
        </p:nvSpPr>
        <p:spPr>
          <a:xfrm>
            <a:off x="1325880" y="3575304"/>
            <a:ext cx="411480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10 completions per prompt at temperature 1.0</a:t>
            </a:r>
            <a:endParaRPr lang="en-US" sz="1150" dirty="0"/>
          </a:p>
        </p:txBody>
      </p:sp>
      <p:sp>
        <p:nvSpPr>
          <p:cNvPr id="17" name="Text 15"/>
          <p:cNvSpPr/>
          <p:nvPr/>
        </p:nvSpPr>
        <p:spPr>
          <a:xfrm>
            <a:off x="850392" y="3986784"/>
            <a:ext cx="274320" cy="201168"/>
          </a:xfrm>
          <a:prstGeom prst="rect">
            <a:avLst/>
          </a:prstGeom>
          <a:noFill/>
          <a:ln/>
        </p:spPr>
        <p:txBody>
          <a:bodyPr wrap="square" lIns="0" tIns="0" rIns="0" bIns="0" rtlCol="0" anchor="ctr"/>
          <a:lstStyle/>
          <a:p>
            <a:pPr marL="0" indent="0" algn="ctr">
              <a:buNone/>
            </a:pPr>
            <a:r>
              <a:rPr lang="en-US" sz="1100" dirty="0">
                <a:solidFill>
                  <a:srgbClr val="D8E0EC"/>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502920" y="4215384"/>
            <a:ext cx="5074920" cy="868680"/>
          </a:xfrm>
          <a:prstGeom prst="roundRect">
            <a:avLst>
              <a:gd name="adj" fmla="val 8421"/>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9" name="Shape 17"/>
          <p:cNvSpPr/>
          <p:nvPr/>
        </p:nvSpPr>
        <p:spPr>
          <a:xfrm>
            <a:off x="713232" y="4425696"/>
            <a:ext cx="457200" cy="457200"/>
          </a:xfrm>
          <a:prstGeom prst="ellipse">
            <a:avLst/>
          </a:prstGeom>
          <a:solidFill>
            <a:srgbClr val="E8833A"/>
          </a:solidFill>
          <a:ln/>
        </p:spPr>
        <p:txBody>
          <a:bodyPr/>
          <a:lstStyle/>
          <a:p>
            <a:endParaRPr lang="en-US"/>
          </a:p>
        </p:txBody>
      </p:sp>
      <p:sp>
        <p:nvSpPr>
          <p:cNvPr id="20" name="Text 18"/>
          <p:cNvSpPr/>
          <p:nvPr/>
        </p:nvSpPr>
        <p:spPr>
          <a:xfrm>
            <a:off x="713232" y="442569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p:nvPr/>
        </p:nvSpPr>
        <p:spPr>
          <a:xfrm>
            <a:off x="1325880" y="4334256"/>
            <a:ext cx="411480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GPT-4 grades</a:t>
            </a:r>
            <a:endParaRPr lang="en-US" sz="1450" dirty="0"/>
          </a:p>
        </p:txBody>
      </p:sp>
      <p:sp>
        <p:nvSpPr>
          <p:cNvPr id="22" name="Text 20"/>
          <p:cNvSpPr/>
          <p:nvPr/>
        </p:nvSpPr>
        <p:spPr>
          <a:xfrm>
            <a:off x="1325880" y="4654296"/>
            <a:ext cx="411480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Grammar · Creativity · Consistency · Plot + age guess</a:t>
            </a:r>
            <a:endParaRPr lang="en-US" sz="1150" dirty="0"/>
          </a:p>
        </p:txBody>
      </p:sp>
      <p:sp>
        <p:nvSpPr>
          <p:cNvPr id="23" name="Text 21"/>
          <p:cNvSpPr/>
          <p:nvPr/>
        </p:nvSpPr>
        <p:spPr>
          <a:xfrm>
            <a:off x="5943600" y="1645920"/>
            <a:ext cx="5760720" cy="274320"/>
          </a:xfrm>
          <a:prstGeom prst="rect">
            <a:avLst/>
          </a:prstGeom>
          <a:noFill/>
          <a:ln/>
        </p:spPr>
        <p:txBody>
          <a:bodyPr wrap="square" lIns="0" tIns="0" rIns="0" bIns="0" rtlCol="0" anchor="ctr"/>
          <a:lstStyle/>
          <a:p>
            <a:pPr marL="0" indent="0">
              <a:buNone/>
            </a:pPr>
            <a:r>
              <a:rPr lang="en-US" sz="1200" b="1" kern="0" spc="100" dirty="0">
                <a:solidFill>
                  <a:srgbClr val="E8833A"/>
                </a:solidFill>
                <a:latin typeface="Calibri" pitchFamily="34" charset="0"/>
                <a:ea typeface="Calibri" pitchFamily="34" charset="-122"/>
                <a:cs typeface="Calibri" pitchFamily="34" charset="-120"/>
              </a:rPr>
              <a:t>THE THREE CLAIMS WE REPRODUCE</a:t>
            </a:r>
            <a:endParaRPr lang="en-US" sz="1200" dirty="0"/>
          </a:p>
        </p:txBody>
      </p:sp>
      <p:sp>
        <p:nvSpPr>
          <p:cNvPr id="24" name="Shape 22"/>
          <p:cNvSpPr/>
          <p:nvPr/>
        </p:nvSpPr>
        <p:spPr>
          <a:xfrm>
            <a:off x="5943600" y="2057400"/>
            <a:ext cx="5742432" cy="1078992"/>
          </a:xfrm>
          <a:prstGeom prst="roundRect">
            <a:avLst>
              <a:gd name="adj" fmla="val 678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25" name="Shape 23"/>
          <p:cNvSpPr/>
          <p:nvPr/>
        </p:nvSpPr>
        <p:spPr>
          <a:xfrm>
            <a:off x="6144768" y="2350008"/>
            <a:ext cx="502920" cy="502920"/>
          </a:xfrm>
          <a:prstGeom prst="ellipse">
            <a:avLst/>
          </a:prstGeom>
          <a:solidFill>
            <a:srgbClr val="2A6F97"/>
          </a:solidFill>
          <a:ln/>
        </p:spPr>
        <p:txBody>
          <a:bodyPr/>
          <a:lstStyle/>
          <a:p>
            <a:endParaRPr lang="en-US"/>
          </a:p>
        </p:txBody>
      </p:sp>
      <p:sp>
        <p:nvSpPr>
          <p:cNvPr id="26" name="Text 24"/>
          <p:cNvSpPr/>
          <p:nvPr/>
        </p:nvSpPr>
        <p:spPr>
          <a:xfrm>
            <a:off x="6144768" y="235000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C1</a:t>
            </a:r>
            <a:endParaRPr lang="en-US" sz="1500" dirty="0"/>
          </a:p>
        </p:txBody>
      </p:sp>
      <p:sp>
        <p:nvSpPr>
          <p:cNvPr id="27" name="Text 25"/>
          <p:cNvSpPr/>
          <p:nvPr/>
        </p:nvSpPr>
        <p:spPr>
          <a:xfrm>
            <a:off x="6812280" y="2203704"/>
            <a:ext cx="4754880" cy="36576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Bigger → more coherent</a:t>
            </a:r>
            <a:endParaRPr lang="en-US" sz="1550" dirty="0"/>
          </a:p>
        </p:txBody>
      </p:sp>
      <p:sp>
        <p:nvSpPr>
          <p:cNvPr id="28" name="Text 26"/>
          <p:cNvSpPr/>
          <p:nvPr/>
        </p:nvSpPr>
        <p:spPr>
          <a:xfrm>
            <a:off x="6812280" y="2569464"/>
            <a:ext cx="4709160" cy="502920"/>
          </a:xfrm>
          <a:prstGeom prst="rect">
            <a:avLst/>
          </a:prstGeom>
          <a:noFill/>
          <a:ln/>
        </p:spPr>
        <p:txBody>
          <a:bodyPr wrap="square" lIns="0" tIns="0" rIns="0" bIns="0" rtlCol="0" anchor="ctr"/>
          <a:lstStyle/>
          <a:p>
            <a:pPr marL="0" indent="0">
              <a:buNone/>
            </a:pPr>
            <a:r>
              <a:rPr lang="en-US" sz="1200" dirty="0">
                <a:solidFill>
                  <a:srgbClr val="5B6B82"/>
                </a:solidFill>
                <a:latin typeface="Calibri" pitchFamily="34" charset="0"/>
                <a:ea typeface="Calibri" pitchFamily="34" charset="-122"/>
                <a:cs typeface="Calibri" pitchFamily="34" charset="-120"/>
              </a:rPr>
              <a:t>Larger models produce more consistent story continuations than smaller ones.</a:t>
            </a:r>
            <a:endParaRPr lang="en-US" sz="1200" dirty="0"/>
          </a:p>
        </p:txBody>
      </p:sp>
      <p:sp>
        <p:nvSpPr>
          <p:cNvPr id="29" name="Shape 27"/>
          <p:cNvSpPr/>
          <p:nvPr/>
        </p:nvSpPr>
        <p:spPr>
          <a:xfrm>
            <a:off x="5943600" y="3291840"/>
            <a:ext cx="5742432" cy="1078992"/>
          </a:xfrm>
          <a:prstGeom prst="roundRect">
            <a:avLst>
              <a:gd name="adj" fmla="val 678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30" name="Shape 28"/>
          <p:cNvSpPr/>
          <p:nvPr/>
        </p:nvSpPr>
        <p:spPr>
          <a:xfrm>
            <a:off x="6144768" y="3584448"/>
            <a:ext cx="502920" cy="502920"/>
          </a:xfrm>
          <a:prstGeom prst="ellipse">
            <a:avLst/>
          </a:prstGeom>
          <a:solidFill>
            <a:srgbClr val="2A9D8F"/>
          </a:solidFill>
          <a:ln/>
        </p:spPr>
        <p:txBody>
          <a:bodyPr/>
          <a:lstStyle/>
          <a:p>
            <a:endParaRPr lang="en-US"/>
          </a:p>
        </p:txBody>
      </p:sp>
      <p:sp>
        <p:nvSpPr>
          <p:cNvPr id="31" name="Text 29"/>
          <p:cNvSpPr/>
          <p:nvPr/>
        </p:nvSpPr>
        <p:spPr>
          <a:xfrm>
            <a:off x="6144768" y="358444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C2</a:t>
            </a:r>
            <a:endParaRPr lang="en-US" sz="1500" dirty="0"/>
          </a:p>
        </p:txBody>
      </p:sp>
      <p:sp>
        <p:nvSpPr>
          <p:cNvPr id="32" name="Text 30"/>
          <p:cNvSpPr/>
          <p:nvPr/>
        </p:nvSpPr>
        <p:spPr>
          <a:xfrm>
            <a:off x="6812280" y="3438144"/>
            <a:ext cx="4754880" cy="36576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Grammar comes first</a:t>
            </a:r>
            <a:endParaRPr lang="en-US" sz="1550" dirty="0"/>
          </a:p>
        </p:txBody>
      </p:sp>
      <p:sp>
        <p:nvSpPr>
          <p:cNvPr id="33" name="Text 31"/>
          <p:cNvSpPr/>
          <p:nvPr/>
        </p:nvSpPr>
        <p:spPr>
          <a:xfrm>
            <a:off x="6812280" y="3803904"/>
            <a:ext cx="4709160" cy="502920"/>
          </a:xfrm>
          <a:prstGeom prst="rect">
            <a:avLst/>
          </a:prstGeom>
          <a:noFill/>
          <a:ln/>
        </p:spPr>
        <p:txBody>
          <a:bodyPr wrap="square" lIns="0" tIns="0" rIns="0" bIns="0" rtlCol="0" anchor="ctr"/>
          <a:lstStyle/>
          <a:p>
            <a:pPr marL="0" indent="0">
              <a:buNone/>
            </a:pPr>
            <a:r>
              <a:rPr lang="en-US" sz="1200" dirty="0">
                <a:solidFill>
                  <a:srgbClr val="5B6B82"/>
                </a:solidFill>
                <a:latin typeface="Calibri" pitchFamily="34" charset="0"/>
                <a:ea typeface="Calibri" pitchFamily="34" charset="-122"/>
                <a:cs typeface="Calibri" pitchFamily="34" charset="-120"/>
              </a:rPr>
              <a:t>Very small models write grammatically before they master consistency or creativity.</a:t>
            </a:r>
            <a:endParaRPr lang="en-US" sz="1200" dirty="0"/>
          </a:p>
        </p:txBody>
      </p:sp>
      <p:sp>
        <p:nvSpPr>
          <p:cNvPr id="34" name="Shape 32"/>
          <p:cNvSpPr/>
          <p:nvPr/>
        </p:nvSpPr>
        <p:spPr>
          <a:xfrm>
            <a:off x="5943600" y="4526280"/>
            <a:ext cx="5742432" cy="1078992"/>
          </a:xfrm>
          <a:prstGeom prst="roundRect">
            <a:avLst>
              <a:gd name="adj" fmla="val 678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35" name="Shape 33"/>
          <p:cNvSpPr/>
          <p:nvPr/>
        </p:nvSpPr>
        <p:spPr>
          <a:xfrm>
            <a:off x="6144768" y="4818888"/>
            <a:ext cx="502920" cy="502920"/>
          </a:xfrm>
          <a:prstGeom prst="ellipse">
            <a:avLst/>
          </a:prstGeom>
          <a:solidFill>
            <a:srgbClr val="8E5572"/>
          </a:solidFill>
          <a:ln/>
        </p:spPr>
        <p:txBody>
          <a:bodyPr/>
          <a:lstStyle/>
          <a:p>
            <a:endParaRPr lang="en-US"/>
          </a:p>
        </p:txBody>
      </p:sp>
      <p:sp>
        <p:nvSpPr>
          <p:cNvPr id="36" name="Text 34"/>
          <p:cNvSpPr/>
          <p:nvPr/>
        </p:nvSpPr>
        <p:spPr>
          <a:xfrm>
            <a:off x="6144768" y="48188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C3</a:t>
            </a:r>
            <a:endParaRPr lang="en-US" sz="1500" dirty="0"/>
          </a:p>
        </p:txBody>
      </p:sp>
      <p:sp>
        <p:nvSpPr>
          <p:cNvPr id="37" name="Text 35"/>
          <p:cNvSpPr/>
          <p:nvPr/>
        </p:nvSpPr>
        <p:spPr>
          <a:xfrm>
            <a:off x="6812280" y="4672584"/>
            <a:ext cx="4754880" cy="36576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Not memorized</a:t>
            </a:r>
            <a:endParaRPr lang="en-US" sz="1550" dirty="0"/>
          </a:p>
        </p:txBody>
      </p:sp>
      <p:sp>
        <p:nvSpPr>
          <p:cNvPr id="38" name="Text 36"/>
          <p:cNvSpPr/>
          <p:nvPr/>
        </p:nvSpPr>
        <p:spPr>
          <a:xfrm>
            <a:off x="6812280" y="5038344"/>
            <a:ext cx="4709160" cy="502920"/>
          </a:xfrm>
          <a:prstGeom prst="rect">
            <a:avLst/>
          </a:prstGeom>
          <a:noFill/>
          <a:ln/>
        </p:spPr>
        <p:txBody>
          <a:bodyPr wrap="square" lIns="0" tIns="0" rIns="0" bIns="0" rtlCol="0" anchor="ctr"/>
          <a:lstStyle/>
          <a:p>
            <a:pPr marL="0" indent="0">
              <a:buNone/>
            </a:pPr>
            <a:r>
              <a:rPr lang="en-US" sz="1200" dirty="0">
                <a:solidFill>
                  <a:srgbClr val="5B6B82"/>
                </a:solidFill>
                <a:latin typeface="Calibri" pitchFamily="34" charset="0"/>
                <a:ea typeface="Calibri" pitchFamily="34" charset="-122"/>
                <a:cs typeface="Calibri" pitchFamily="34" charset="-120"/>
              </a:rPr>
              <a:t>Continuations are genuinely generated, not copied from the training stories.</a:t>
            </a:r>
            <a:endParaRPr lang="en-US" sz="1200" dirty="0"/>
          </a:p>
        </p:txBody>
      </p:sp>
      <p:sp>
        <p:nvSpPr>
          <p:cNvPr id="39" name="Text 37"/>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40" name="Text 38"/>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Experimental setup</a:t>
            </a:r>
            <a:endParaRPr lang="en-US" sz="3000" dirty="0"/>
          </a:p>
        </p:txBody>
      </p:sp>
      <p:sp>
        <p:nvSpPr>
          <p:cNvPr id="5" name="Text 3"/>
          <p:cNvSpPr/>
          <p:nvPr/>
        </p:nvSpPr>
        <p:spPr>
          <a:xfrm>
            <a:off x="502920" y="1645920"/>
            <a:ext cx="5943600" cy="274320"/>
          </a:xfrm>
          <a:prstGeom prst="rect">
            <a:avLst/>
          </a:prstGeom>
          <a:noFill/>
          <a:ln/>
        </p:spPr>
        <p:txBody>
          <a:bodyPr wrap="square" lIns="0" tIns="0" rIns="0" bIns="0" rtlCol="0" anchor="ctr"/>
          <a:lstStyle/>
          <a:p>
            <a:pPr marL="0" indent="0">
              <a:buNone/>
            </a:pPr>
            <a:r>
              <a:rPr lang="en-US" sz="1200" b="1" kern="0" spc="100" dirty="0">
                <a:solidFill>
                  <a:srgbClr val="E8833A"/>
                </a:solidFill>
                <a:latin typeface="Calibri" pitchFamily="34" charset="0"/>
                <a:ea typeface="Calibri" pitchFamily="34" charset="-122"/>
                <a:cs typeface="Calibri" pitchFamily="34" charset="-120"/>
              </a:rPr>
              <a:t>FIVE MODELS — SCALING WIDTH &amp; DEPTH</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5577840" cy="2523744"/>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20624">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Params</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d_model</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Layers</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20624">
                <a:tc>
                  <a:txBody>
                    <a:bodyPr/>
                    <a:lstStyle/>
                    <a:p>
                      <a:pPr marL="0" indent="0" algn="l">
                        <a:buNone/>
                      </a:pPr>
                      <a:r>
                        <a:rPr lang="en-US" sz="1250" b="1" dirty="0">
                          <a:solidFill>
                            <a:srgbClr val="1B2A4A"/>
                          </a:solidFill>
                          <a:latin typeface="Calibri" pitchFamily="34" charset="0"/>
                          <a:ea typeface="Calibri" pitchFamily="34" charset="-122"/>
                          <a:cs typeface="Calibri" pitchFamily="34" charset="-120"/>
                        </a:rPr>
                        <a:t>XS</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1.2M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96</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b="1" dirty="0">
                          <a:solidFill>
                            <a:srgbClr val="1B2A4A"/>
                          </a:solidFill>
                          <a:latin typeface="Calibri" pitchFamily="34" charset="0"/>
                          <a:ea typeface="Calibri" pitchFamily="34" charset="-122"/>
                          <a:cs typeface="Calibri" pitchFamily="34" charset="-120"/>
                        </a:rPr>
                        <a:t>Small</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3.0M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128</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420624">
                <a:tc>
                  <a:txBody>
                    <a:bodyPr/>
                    <a:lstStyle/>
                    <a:p>
                      <a:pPr marL="0" indent="0" algn="l">
                        <a:buNone/>
                      </a:pPr>
                      <a:r>
                        <a:rPr lang="en-US" sz="1250" b="1" dirty="0">
                          <a:solidFill>
                            <a:srgbClr val="1B2A4A"/>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9.8M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224</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50" b="1" dirty="0">
                          <a:solidFill>
                            <a:srgbClr val="1B2A4A"/>
                          </a:solidFill>
                          <a:latin typeface="Calibri" pitchFamily="34" charset="0"/>
                          <a:ea typeface="Calibri" pitchFamily="34" charset="-122"/>
                          <a:cs typeface="Calibri" pitchFamily="34" charset="-120"/>
                        </a:rPr>
                        <a:t>Large</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28.7M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512</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420624">
                <a:tc>
                  <a:txBody>
                    <a:bodyPr/>
                    <a:lstStyle/>
                    <a:p>
                      <a:pPr marL="0" indent="0" algn="l">
                        <a:buNone/>
                      </a:pPr>
                      <a:r>
                        <a:rPr lang="en-US" sz="1250" b="1" dirty="0">
                          <a:solidFill>
                            <a:srgbClr val="1B2A4A"/>
                          </a:solidFill>
                          <a:latin typeface="Calibri" pitchFamily="34" charset="0"/>
                          <a:ea typeface="Calibri" pitchFamily="34" charset="-122"/>
                          <a:cs typeface="Calibri" pitchFamily="34" charset="-120"/>
                        </a:rPr>
                        <a:t>XL</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56.2M</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544</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4344D"/>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6350" cap="flat" cmpd="sng" algn="ctr">
                      <a:solidFill>
                        <a:srgbClr val="D8E0EC"/>
                      </a:solidFill>
                      <a:prstDash val="solid"/>
                      <a:round/>
                      <a:headEnd type="none" w="med" len="med"/>
                      <a:tailEnd type="none" w="med" len="med"/>
                    </a:lnL>
                    <a:lnR w="6350" cap="flat" cmpd="sng" algn="ctr">
                      <a:solidFill>
                        <a:srgbClr val="D8E0EC"/>
                      </a:solidFill>
                      <a:prstDash val="solid"/>
                      <a:round/>
                      <a:headEnd type="none" w="med" len="med"/>
                      <a:tailEnd type="none" w="med" len="med"/>
                    </a:lnR>
                    <a:lnT w="6350" cap="flat" cmpd="sng" algn="ctr">
                      <a:solidFill>
                        <a:srgbClr val="D8E0EC"/>
                      </a:solidFill>
                      <a:prstDash val="solid"/>
                      <a:round/>
                      <a:headEnd type="none" w="med" len="med"/>
                      <a:tailEnd type="none" w="med" len="med"/>
                    </a:lnT>
                    <a:lnB w="6350" cap="flat" cmpd="sng" algn="ctr">
                      <a:solidFill>
                        <a:srgbClr val="D8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4"/>
          <p:cNvSpPr/>
          <p:nvPr/>
        </p:nvSpPr>
        <p:spPr>
          <a:xfrm>
            <a:off x="502920" y="4617720"/>
            <a:ext cx="5577840" cy="548640"/>
          </a:xfrm>
          <a:prstGeom prst="rect">
            <a:avLst/>
          </a:prstGeom>
          <a:noFill/>
          <a:ln/>
        </p:spPr>
        <p:txBody>
          <a:bodyPr wrap="square" lIns="0" tIns="0" rIns="0" bIns="0" rtlCol="0" anchor="ctr"/>
          <a:lstStyle/>
          <a:p>
            <a:pPr marL="0" indent="0">
              <a:buNone/>
            </a:pPr>
            <a:r>
              <a:rPr lang="en-US" sz="1150" i="1" dirty="0">
                <a:solidFill>
                  <a:srgbClr val="5B6B82"/>
                </a:solidFill>
                <a:latin typeface="Calibri" pitchFamily="34" charset="0"/>
                <a:ea typeface="Calibri" pitchFamily="34" charset="-122"/>
                <a:cs typeface="Calibri" pitchFamily="34" charset="-120"/>
              </a:rPr>
              <a:t>All five trained for one epoch on TinyStories-train; 10k-token vocabulary, 512-token context.</a:t>
            </a:r>
            <a:endParaRPr lang="en-US" sz="1150" dirty="0"/>
          </a:p>
        </p:txBody>
      </p:sp>
      <p:sp>
        <p:nvSpPr>
          <p:cNvPr id="8" name="Shape 5"/>
          <p:cNvSpPr/>
          <p:nvPr/>
        </p:nvSpPr>
        <p:spPr>
          <a:xfrm>
            <a:off x="502920" y="5257800"/>
            <a:ext cx="1298448" cy="868680"/>
          </a:xfrm>
          <a:prstGeom prst="roundRect">
            <a:avLst>
              <a:gd name="adj" fmla="val 8421"/>
            </a:avLst>
          </a:prstGeom>
          <a:solidFill>
            <a:srgbClr val="EEF3FA"/>
          </a:solidFill>
          <a:ln/>
        </p:spPr>
        <p:txBody>
          <a:bodyPr/>
          <a:lstStyle/>
          <a:p>
            <a:endParaRPr lang="en-US"/>
          </a:p>
        </p:txBody>
      </p:sp>
      <p:sp>
        <p:nvSpPr>
          <p:cNvPr id="9" name="Text 6"/>
          <p:cNvSpPr/>
          <p:nvPr/>
        </p:nvSpPr>
        <p:spPr>
          <a:xfrm>
            <a:off x="502920" y="5340096"/>
            <a:ext cx="1298448" cy="411480"/>
          </a:xfrm>
          <a:prstGeom prst="rect">
            <a:avLst/>
          </a:prstGeom>
          <a:noFill/>
          <a:ln/>
        </p:spPr>
        <p:txBody>
          <a:bodyPr wrap="square" lIns="0" tIns="0" rIns="0" bIns="0" rtlCol="0" anchor="ctr"/>
          <a:lstStyle/>
          <a:p>
            <a:pPr marL="0" indent="0" algn="ctr">
              <a:buNone/>
            </a:pPr>
            <a:r>
              <a:rPr lang="en-US" sz="1900" b="1" dirty="0">
                <a:solidFill>
                  <a:srgbClr val="E8833A"/>
                </a:solidFill>
                <a:latin typeface="Cambria" pitchFamily="34" charset="0"/>
                <a:ea typeface="Cambria" pitchFamily="34" charset="-122"/>
                <a:cs typeface="Cambria" pitchFamily="34" charset="-120"/>
              </a:rPr>
              <a:t>10k</a:t>
            </a:r>
            <a:endParaRPr lang="en-US" sz="1900" dirty="0"/>
          </a:p>
        </p:txBody>
      </p:sp>
      <p:sp>
        <p:nvSpPr>
          <p:cNvPr id="10" name="Text 7"/>
          <p:cNvSpPr/>
          <p:nvPr/>
        </p:nvSpPr>
        <p:spPr>
          <a:xfrm>
            <a:off x="502920" y="5760720"/>
            <a:ext cx="1298448" cy="274320"/>
          </a:xfrm>
          <a:prstGeom prst="rect">
            <a:avLst/>
          </a:prstGeom>
          <a:noFill/>
          <a:ln/>
        </p:spPr>
        <p:txBody>
          <a:bodyPr wrap="square" lIns="0" tIns="0" rIns="0" bIns="0"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vocab</a:t>
            </a:r>
            <a:endParaRPr lang="en-US" sz="1050" dirty="0"/>
          </a:p>
        </p:txBody>
      </p:sp>
      <p:sp>
        <p:nvSpPr>
          <p:cNvPr id="11" name="Shape 8"/>
          <p:cNvSpPr/>
          <p:nvPr/>
        </p:nvSpPr>
        <p:spPr>
          <a:xfrm>
            <a:off x="1920240" y="5257800"/>
            <a:ext cx="1298448" cy="868680"/>
          </a:xfrm>
          <a:prstGeom prst="roundRect">
            <a:avLst>
              <a:gd name="adj" fmla="val 8421"/>
            </a:avLst>
          </a:prstGeom>
          <a:solidFill>
            <a:srgbClr val="EEF3FA"/>
          </a:solidFill>
          <a:ln/>
        </p:spPr>
        <p:txBody>
          <a:bodyPr/>
          <a:lstStyle/>
          <a:p>
            <a:endParaRPr lang="en-US"/>
          </a:p>
        </p:txBody>
      </p:sp>
      <p:sp>
        <p:nvSpPr>
          <p:cNvPr id="12" name="Text 9"/>
          <p:cNvSpPr/>
          <p:nvPr/>
        </p:nvSpPr>
        <p:spPr>
          <a:xfrm>
            <a:off x="1920240" y="5340096"/>
            <a:ext cx="1298448" cy="411480"/>
          </a:xfrm>
          <a:prstGeom prst="rect">
            <a:avLst/>
          </a:prstGeom>
          <a:noFill/>
          <a:ln/>
        </p:spPr>
        <p:txBody>
          <a:bodyPr wrap="square" lIns="0" tIns="0" rIns="0" bIns="0" rtlCol="0" anchor="ctr"/>
          <a:lstStyle/>
          <a:p>
            <a:pPr marL="0" indent="0" algn="ctr">
              <a:buNone/>
            </a:pPr>
            <a:r>
              <a:rPr lang="en-US" sz="1900" b="1" dirty="0">
                <a:solidFill>
                  <a:srgbClr val="E8833A"/>
                </a:solidFill>
                <a:latin typeface="Cambria" pitchFamily="34" charset="0"/>
                <a:ea typeface="Cambria" pitchFamily="34" charset="-122"/>
                <a:cs typeface="Cambria" pitchFamily="34" charset="-120"/>
              </a:rPr>
              <a:t>512</a:t>
            </a:r>
            <a:endParaRPr lang="en-US" sz="1900" dirty="0"/>
          </a:p>
        </p:txBody>
      </p:sp>
      <p:sp>
        <p:nvSpPr>
          <p:cNvPr id="13" name="Text 10"/>
          <p:cNvSpPr/>
          <p:nvPr/>
        </p:nvSpPr>
        <p:spPr>
          <a:xfrm>
            <a:off x="1920240" y="5760720"/>
            <a:ext cx="1298448" cy="274320"/>
          </a:xfrm>
          <a:prstGeom prst="rect">
            <a:avLst/>
          </a:prstGeom>
          <a:noFill/>
          <a:ln/>
        </p:spPr>
        <p:txBody>
          <a:bodyPr wrap="square" lIns="0" tIns="0" rIns="0" bIns="0"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context</a:t>
            </a:r>
            <a:endParaRPr lang="en-US" sz="1050" dirty="0"/>
          </a:p>
        </p:txBody>
      </p:sp>
      <p:sp>
        <p:nvSpPr>
          <p:cNvPr id="14" name="Shape 11"/>
          <p:cNvSpPr/>
          <p:nvPr/>
        </p:nvSpPr>
        <p:spPr>
          <a:xfrm>
            <a:off x="3337560" y="5257800"/>
            <a:ext cx="1298448" cy="868680"/>
          </a:xfrm>
          <a:prstGeom prst="roundRect">
            <a:avLst>
              <a:gd name="adj" fmla="val 8421"/>
            </a:avLst>
          </a:prstGeom>
          <a:solidFill>
            <a:srgbClr val="EEF3FA"/>
          </a:solidFill>
          <a:ln/>
        </p:spPr>
        <p:txBody>
          <a:bodyPr/>
          <a:lstStyle/>
          <a:p>
            <a:endParaRPr lang="en-US"/>
          </a:p>
        </p:txBody>
      </p:sp>
      <p:sp>
        <p:nvSpPr>
          <p:cNvPr id="15" name="Text 12"/>
          <p:cNvSpPr/>
          <p:nvPr/>
        </p:nvSpPr>
        <p:spPr>
          <a:xfrm>
            <a:off x="3337560" y="5340096"/>
            <a:ext cx="1298448" cy="411480"/>
          </a:xfrm>
          <a:prstGeom prst="rect">
            <a:avLst/>
          </a:prstGeom>
          <a:noFill/>
          <a:ln/>
        </p:spPr>
        <p:txBody>
          <a:bodyPr wrap="square" lIns="0" tIns="0" rIns="0" bIns="0" rtlCol="0" anchor="ctr"/>
          <a:lstStyle/>
          <a:p>
            <a:pPr marL="0" indent="0" algn="ctr">
              <a:buNone/>
            </a:pPr>
            <a:r>
              <a:rPr lang="en-US" sz="1900" b="1" dirty="0">
                <a:solidFill>
                  <a:srgbClr val="E8833A"/>
                </a:solidFill>
                <a:latin typeface="Cambria" pitchFamily="34" charset="0"/>
                <a:ea typeface="Cambria" pitchFamily="34" charset="-122"/>
                <a:cs typeface="Cambria" pitchFamily="34" charset="-120"/>
              </a:rPr>
              <a:t>50×10</a:t>
            </a:r>
            <a:endParaRPr lang="en-US" sz="1900" dirty="0"/>
          </a:p>
        </p:txBody>
      </p:sp>
      <p:sp>
        <p:nvSpPr>
          <p:cNvPr id="16" name="Text 13"/>
          <p:cNvSpPr/>
          <p:nvPr/>
        </p:nvSpPr>
        <p:spPr>
          <a:xfrm>
            <a:off x="3337560" y="5760720"/>
            <a:ext cx="1298448" cy="274320"/>
          </a:xfrm>
          <a:prstGeom prst="rect">
            <a:avLst/>
          </a:prstGeom>
          <a:noFill/>
          <a:ln/>
        </p:spPr>
        <p:txBody>
          <a:bodyPr wrap="square" lIns="0" tIns="0" rIns="0" bIns="0"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eval samples</a:t>
            </a:r>
            <a:endParaRPr lang="en-US" sz="1050" dirty="0"/>
          </a:p>
        </p:txBody>
      </p:sp>
      <p:sp>
        <p:nvSpPr>
          <p:cNvPr id="17" name="Shape 14"/>
          <p:cNvSpPr/>
          <p:nvPr/>
        </p:nvSpPr>
        <p:spPr>
          <a:xfrm>
            <a:off x="4754880" y="5257800"/>
            <a:ext cx="1298448" cy="868680"/>
          </a:xfrm>
          <a:prstGeom prst="roundRect">
            <a:avLst>
              <a:gd name="adj" fmla="val 8421"/>
            </a:avLst>
          </a:prstGeom>
          <a:solidFill>
            <a:srgbClr val="EEF3FA"/>
          </a:solidFill>
          <a:ln/>
        </p:spPr>
        <p:txBody>
          <a:bodyPr/>
          <a:lstStyle/>
          <a:p>
            <a:endParaRPr lang="en-US"/>
          </a:p>
        </p:txBody>
      </p:sp>
      <p:sp>
        <p:nvSpPr>
          <p:cNvPr id="18" name="Text 15"/>
          <p:cNvSpPr/>
          <p:nvPr/>
        </p:nvSpPr>
        <p:spPr>
          <a:xfrm>
            <a:off x="4754880" y="5340096"/>
            <a:ext cx="1298448" cy="411480"/>
          </a:xfrm>
          <a:prstGeom prst="rect">
            <a:avLst/>
          </a:prstGeom>
          <a:noFill/>
          <a:ln/>
        </p:spPr>
        <p:txBody>
          <a:bodyPr wrap="square" lIns="0" tIns="0" rIns="0" bIns="0" rtlCol="0" anchor="ctr"/>
          <a:lstStyle/>
          <a:p>
            <a:pPr marL="0" indent="0" algn="ctr">
              <a:buNone/>
            </a:pPr>
            <a:r>
              <a:rPr lang="en-US" sz="1900" b="1" dirty="0">
                <a:solidFill>
                  <a:srgbClr val="E8833A"/>
                </a:solidFill>
                <a:latin typeface="Cambria" pitchFamily="34" charset="0"/>
                <a:ea typeface="Cambria" pitchFamily="34" charset="-122"/>
                <a:cs typeface="Cambria" pitchFamily="34" charset="-120"/>
              </a:rPr>
              <a:t>1</a:t>
            </a:r>
            <a:endParaRPr lang="en-US" sz="1900" dirty="0"/>
          </a:p>
        </p:txBody>
      </p:sp>
      <p:sp>
        <p:nvSpPr>
          <p:cNvPr id="19" name="Text 16"/>
          <p:cNvSpPr/>
          <p:nvPr/>
        </p:nvSpPr>
        <p:spPr>
          <a:xfrm>
            <a:off x="4754880" y="5760720"/>
            <a:ext cx="1298448" cy="274320"/>
          </a:xfrm>
          <a:prstGeom prst="rect">
            <a:avLst/>
          </a:prstGeom>
          <a:noFill/>
          <a:ln/>
        </p:spPr>
        <p:txBody>
          <a:bodyPr wrap="square" lIns="0" tIns="0" rIns="0" bIns="0"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epoch</a:t>
            </a:r>
            <a:endParaRPr lang="en-US" sz="1050" dirty="0"/>
          </a:p>
        </p:txBody>
      </p:sp>
      <p:sp>
        <p:nvSpPr>
          <p:cNvPr id="20" name="Shape 17"/>
          <p:cNvSpPr/>
          <p:nvPr/>
        </p:nvSpPr>
        <p:spPr>
          <a:xfrm>
            <a:off x="6400800" y="1783080"/>
            <a:ext cx="5303520" cy="4343400"/>
          </a:xfrm>
          <a:prstGeom prst="roundRect">
            <a:avLst>
              <a:gd name="adj" fmla="val 1684"/>
            </a:avLst>
          </a:prstGeom>
          <a:solidFill>
            <a:srgbClr val="FFFFFF"/>
          </a:solidFill>
          <a:ln w="12700">
            <a:solidFill>
              <a:srgbClr val="D8E0EC"/>
            </a:solidFill>
            <a:prstDash val="solid"/>
          </a:ln>
        </p:spPr>
        <p:txBody>
          <a:bodyPr/>
          <a:lstStyle/>
          <a:p>
            <a:endParaRPr lang="en-US"/>
          </a:p>
        </p:txBody>
      </p:sp>
      <p:sp>
        <p:nvSpPr>
          <p:cNvPr id="21" name="Text 18"/>
          <p:cNvSpPr/>
          <p:nvPr/>
        </p:nvSpPr>
        <p:spPr>
          <a:xfrm>
            <a:off x="6583680" y="1874520"/>
            <a:ext cx="4937760" cy="32004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Training converges within one epoch</a:t>
            </a:r>
            <a:endParaRPr lang="en-US" sz="1450" dirty="0"/>
          </a:p>
        </p:txBody>
      </p:sp>
      <p:pic>
        <p:nvPicPr>
          <p:cNvPr id="22" name="Image 0" descr="/Users/clemens/Documents/TU/Master/2/DLNLP/chatbot/build_deck/assets/loss_xs.png"/>
          <p:cNvPicPr>
            <a:picLocks noChangeAspect="1"/>
          </p:cNvPicPr>
          <p:nvPr/>
        </p:nvPicPr>
        <p:blipFill>
          <a:blip r:embed="rId3"/>
          <a:srcRect/>
          <a:stretch/>
        </p:blipFill>
        <p:spPr>
          <a:xfrm>
            <a:off x="6537960" y="2240280"/>
            <a:ext cx="5029200" cy="2788920"/>
          </a:xfrm>
          <a:prstGeom prst="rect">
            <a:avLst/>
          </a:prstGeom>
        </p:spPr>
      </p:pic>
      <p:sp>
        <p:nvSpPr>
          <p:cNvPr id="23" name="Text 19"/>
          <p:cNvSpPr/>
          <p:nvPr/>
        </p:nvSpPr>
        <p:spPr>
          <a:xfrm>
            <a:off x="6583680" y="5212080"/>
            <a:ext cx="4983480" cy="822960"/>
          </a:xfrm>
          <a:prstGeom prst="rect">
            <a:avLst/>
          </a:prstGeom>
          <a:noFill/>
          <a:ln/>
        </p:spPr>
        <p:txBody>
          <a:bodyPr wrap="square" lIns="0" tIns="0" rIns="0" bIns="0" rtlCol="0" anchor="t"/>
          <a:lstStyle/>
          <a:p>
            <a:pPr marL="0" indent="0">
              <a:buNone/>
            </a:pPr>
            <a:r>
              <a:rPr lang="en-US" sz="1150" dirty="0">
                <a:solidFill>
                  <a:srgbClr val="24344D"/>
                </a:solidFill>
                <a:latin typeface="Calibri" pitchFamily="34" charset="0"/>
                <a:ea typeface="Calibri" pitchFamily="34" charset="-122"/>
                <a:cs typeface="Calibri" pitchFamily="34" charset="-120"/>
              </a:rPr>
              <a:t>Loss falls from ~97 → 2.2 (cross-entropy over 10k vocab). </a:t>
            </a:r>
            <a:r>
              <a:rPr lang="en-US" sz="1150" i="1" dirty="0">
                <a:solidFill>
                  <a:srgbClr val="5B6B82"/>
                </a:solidFill>
                <a:latin typeface="Calibri" pitchFamily="34" charset="0"/>
                <a:ea typeface="Calibri" pitchFamily="34" charset="-122"/>
                <a:cs typeface="Calibri" pitchFamily="34" charset="-120"/>
              </a:rPr>
              <a:t>All sizes follow the same shape; XS shown as representative.</a:t>
            </a:r>
            <a:endParaRPr lang="en-US" sz="1150" dirty="0"/>
          </a:p>
        </p:txBody>
      </p:sp>
      <p:sp>
        <p:nvSpPr>
          <p:cNvPr id="24" name="Text 2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25" name="Text 21"/>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 — CLAIM 1</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Bigger models tell more coherent stories</a:t>
            </a:r>
            <a:endParaRPr lang="en-US" sz="3000" dirty="0"/>
          </a:p>
        </p:txBody>
      </p:sp>
      <p:graphicFrame>
        <p:nvGraphicFramePr>
          <p:cNvPr id="5" name="Chart 0"/>
          <p:cNvGraphicFramePr/>
          <p:nvPr/>
        </p:nvGraphicFramePr>
        <p:xfrm>
          <a:off x="457200" y="178308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783080"/>
            <a:ext cx="3931920" cy="4297680"/>
          </a:xfrm>
          <a:prstGeom prst="roundRect">
            <a:avLst>
              <a:gd name="adj" fmla="val 186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Text 4"/>
          <p:cNvSpPr/>
          <p:nvPr/>
        </p:nvSpPr>
        <p:spPr>
          <a:xfrm>
            <a:off x="8001000" y="1965960"/>
            <a:ext cx="3474720" cy="274320"/>
          </a:xfrm>
          <a:prstGeom prst="rect">
            <a:avLst/>
          </a:prstGeom>
          <a:noFill/>
          <a:ln/>
        </p:spPr>
        <p:txBody>
          <a:bodyPr wrap="square" lIns="0" tIns="0" rIns="0" bIns="0" rtlCol="0" anchor="ctr"/>
          <a:lstStyle/>
          <a:p>
            <a:pPr marL="0" indent="0">
              <a:buNone/>
            </a:pPr>
            <a:r>
              <a:rPr lang="en-US" sz="1100" b="1" kern="0" spc="150" dirty="0">
                <a:solidFill>
                  <a:srgbClr val="E8833A"/>
                </a:solidFill>
                <a:latin typeface="Calibri" pitchFamily="34" charset="0"/>
                <a:ea typeface="Calibri" pitchFamily="34" charset="-122"/>
                <a:cs typeface="Calibri" pitchFamily="34" charset="-120"/>
              </a:rPr>
              <a:t>INTERPRETATION</a:t>
            </a:r>
            <a:endParaRPr lang="en-US" sz="1100" dirty="0"/>
          </a:p>
        </p:txBody>
      </p:sp>
      <p:sp>
        <p:nvSpPr>
          <p:cNvPr id="8" name="Text 5"/>
          <p:cNvSpPr/>
          <p:nvPr/>
        </p:nvSpPr>
        <p:spPr>
          <a:xfrm>
            <a:off x="8001000" y="2286000"/>
            <a:ext cx="3520440" cy="5029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Consistency rises monotonically</a:t>
            </a:r>
            <a:endParaRPr lang="en-US" sz="1600" dirty="0"/>
          </a:p>
        </p:txBody>
      </p:sp>
      <p:sp>
        <p:nvSpPr>
          <p:cNvPr id="9" name="Text 6"/>
          <p:cNvSpPr/>
          <p:nvPr/>
        </p:nvSpPr>
        <p:spPr>
          <a:xfrm>
            <a:off x="8001000" y="2834640"/>
            <a:ext cx="3520440" cy="685800"/>
          </a:xfrm>
          <a:prstGeom prst="rect">
            <a:avLst/>
          </a:prstGeom>
          <a:noFill/>
          <a:ln/>
        </p:spPr>
        <p:txBody>
          <a:bodyPr wrap="square" lIns="0" tIns="0" rIns="0" bIns="0" rtlCol="0" anchor="ctr"/>
          <a:lstStyle/>
          <a:p>
            <a:pPr marL="0" indent="0">
              <a:buNone/>
            </a:pPr>
            <a:r>
              <a:rPr lang="en-US" sz="3800" b="1" dirty="0">
                <a:solidFill>
                  <a:srgbClr val="5B6B82"/>
                </a:solidFill>
                <a:latin typeface="Cambria" pitchFamily="34" charset="0"/>
                <a:ea typeface="Cambria" pitchFamily="34" charset="-122"/>
                <a:cs typeface="Cambria" pitchFamily="34" charset="-120"/>
              </a:rPr>
              <a:t>4.1 </a:t>
            </a:r>
            <a:r>
              <a:rPr lang="en-US" sz="3800" b="1" dirty="0">
                <a:solidFill>
                  <a:srgbClr val="E8833A"/>
                </a:solidFill>
                <a:latin typeface="Cambria" pitchFamily="34" charset="0"/>
                <a:ea typeface="Cambria" pitchFamily="34" charset="-122"/>
                <a:cs typeface="Cambria" pitchFamily="34" charset="-120"/>
              </a:rPr>
              <a:t>→ </a:t>
            </a:r>
            <a:r>
              <a:rPr lang="en-US" sz="3800" b="1" dirty="0">
                <a:solidFill>
                  <a:srgbClr val="2A9D8F"/>
                </a:solidFill>
                <a:latin typeface="Cambria" pitchFamily="34" charset="0"/>
                <a:ea typeface="Cambria" pitchFamily="34" charset="-122"/>
                <a:cs typeface="Cambria" pitchFamily="34" charset="-120"/>
              </a:rPr>
              <a:t>7.6</a:t>
            </a:r>
            <a:endParaRPr lang="en-US" sz="3800" dirty="0"/>
          </a:p>
        </p:txBody>
      </p:sp>
      <p:sp>
        <p:nvSpPr>
          <p:cNvPr id="10" name="Text 7"/>
          <p:cNvSpPr/>
          <p:nvPr/>
        </p:nvSpPr>
        <p:spPr>
          <a:xfrm>
            <a:off x="8001000" y="3566160"/>
            <a:ext cx="352044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mean consistency, XS → XL (+86%)</a:t>
            </a:r>
            <a:endParaRPr lang="en-US" sz="1150" dirty="0"/>
          </a:p>
        </p:txBody>
      </p:sp>
      <p:sp>
        <p:nvSpPr>
          <p:cNvPr id="11" name="Text 8"/>
          <p:cNvSpPr/>
          <p:nvPr/>
        </p:nvSpPr>
        <p:spPr>
          <a:xfrm>
            <a:off x="8001000" y="4069080"/>
            <a:ext cx="3520440" cy="1828800"/>
          </a:xfrm>
          <a:prstGeom prst="rect">
            <a:avLst/>
          </a:prstGeom>
          <a:noFill/>
          <a:ln/>
        </p:spPr>
        <p:txBody>
          <a:bodyPr wrap="square" lIns="0" tIns="0" rIns="0" bIns="0" rtlCol="0" anchor="t"/>
          <a:lstStyle/>
          <a:p>
            <a:pPr marL="0" indent="0">
              <a:spcAft>
                <a:spcPts val="800"/>
              </a:spcAft>
              <a:buNone/>
            </a:pPr>
            <a:r>
              <a:rPr lang="en-US" sz="1300" dirty="0">
                <a:solidFill>
                  <a:srgbClr val="24344D"/>
                </a:solidFill>
                <a:latin typeface="Calibri" pitchFamily="34" charset="0"/>
                <a:ea typeface="Calibri" pitchFamily="34" charset="-122"/>
                <a:cs typeface="Calibri" pitchFamily="34" charset="-120"/>
              </a:rPr>
              <a:t>Every metric improves with scale — and the steepest gains are in consistency and plot sense, exactly the higher-order story skills.</a:t>
            </a:r>
            <a:endParaRPr lang="en-US" sz="1300" dirty="0"/>
          </a:p>
          <a:p>
            <a:pPr marL="0" indent="0">
              <a:buNone/>
            </a:pPr>
            <a:r>
              <a:rPr lang="en-US" sz="1300" b="1" dirty="0">
                <a:solidFill>
                  <a:srgbClr val="2A9D8F"/>
                </a:solidFill>
                <a:latin typeface="Calibri" pitchFamily="34" charset="0"/>
                <a:ea typeface="Calibri" pitchFamily="34" charset="-122"/>
                <a:cs typeface="Calibri" pitchFamily="34" charset="-120"/>
              </a:rPr>
              <a:t>✓ Claim 1 reproduced.</a:t>
            </a:r>
            <a:endParaRPr lang="en-US" sz="1300" dirty="0"/>
          </a:p>
        </p:txBody>
      </p:sp>
      <p:sp>
        <p:nvSpPr>
          <p:cNvPr id="12" name="Text 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13" name="Text 10"/>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 — CLAIM 2</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Grammar emerges before consistency &amp; plot</a:t>
            </a:r>
            <a:endParaRPr lang="en-US" sz="3000" dirty="0"/>
          </a:p>
        </p:txBody>
      </p:sp>
      <p:graphicFrame>
        <p:nvGraphicFramePr>
          <p:cNvPr id="5" name="Chart 0"/>
          <p:cNvGraphicFramePr/>
          <p:nvPr/>
        </p:nvGraphicFramePr>
        <p:xfrm>
          <a:off x="457200" y="178308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783080"/>
            <a:ext cx="3931920" cy="4297680"/>
          </a:xfrm>
          <a:prstGeom prst="roundRect">
            <a:avLst>
              <a:gd name="adj" fmla="val 186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Text 4"/>
          <p:cNvSpPr/>
          <p:nvPr/>
        </p:nvSpPr>
        <p:spPr>
          <a:xfrm>
            <a:off x="8001000" y="1965960"/>
            <a:ext cx="3474720" cy="274320"/>
          </a:xfrm>
          <a:prstGeom prst="rect">
            <a:avLst/>
          </a:prstGeom>
          <a:noFill/>
          <a:ln/>
        </p:spPr>
        <p:txBody>
          <a:bodyPr wrap="square" lIns="0" tIns="0" rIns="0" bIns="0" rtlCol="0" anchor="ctr"/>
          <a:lstStyle/>
          <a:p>
            <a:pPr marL="0" indent="0">
              <a:buNone/>
            </a:pPr>
            <a:r>
              <a:rPr lang="en-US" sz="1100" b="1" kern="0" spc="150" dirty="0">
                <a:solidFill>
                  <a:srgbClr val="E8833A"/>
                </a:solidFill>
                <a:latin typeface="Calibri" pitchFamily="34" charset="0"/>
                <a:ea typeface="Calibri" pitchFamily="34" charset="-122"/>
                <a:cs typeface="Calibri" pitchFamily="34" charset="-120"/>
              </a:rPr>
              <a:t>INTERPRETATION</a:t>
            </a:r>
            <a:endParaRPr lang="en-US" sz="1100" dirty="0"/>
          </a:p>
        </p:txBody>
      </p:sp>
      <p:sp>
        <p:nvSpPr>
          <p:cNvPr id="8" name="Text 5"/>
          <p:cNvSpPr/>
          <p:nvPr/>
        </p:nvSpPr>
        <p:spPr>
          <a:xfrm>
            <a:off x="8001000" y="2286000"/>
            <a:ext cx="352044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Grammar leads, plot lags</a:t>
            </a:r>
            <a:endParaRPr lang="en-US" sz="1600" dirty="0"/>
          </a:p>
        </p:txBody>
      </p:sp>
      <p:sp>
        <p:nvSpPr>
          <p:cNvPr id="9" name="Text 6"/>
          <p:cNvSpPr/>
          <p:nvPr/>
        </p:nvSpPr>
        <p:spPr>
          <a:xfrm>
            <a:off x="8001000" y="2788920"/>
            <a:ext cx="3520440" cy="868680"/>
          </a:xfrm>
          <a:prstGeom prst="rect">
            <a:avLst/>
          </a:prstGeom>
          <a:noFill/>
          <a:ln/>
        </p:spPr>
        <p:txBody>
          <a:bodyPr wrap="square" lIns="0" tIns="0" rIns="0" bIns="0" rtlCol="0" anchor="t"/>
          <a:lstStyle/>
          <a:p>
            <a:pPr marL="0" indent="0">
              <a:buNone/>
            </a:pPr>
            <a:r>
              <a:rPr lang="en-US" sz="1300" dirty="0">
                <a:solidFill>
                  <a:srgbClr val="24344D"/>
                </a:solidFill>
                <a:latin typeface="Calibri" pitchFamily="34" charset="0"/>
                <a:ea typeface="Calibri" pitchFamily="34" charset="-122"/>
                <a:cs typeface="Calibri" pitchFamily="34" charset="-120"/>
              </a:rPr>
              <a:t>At XS, grammar already scores </a:t>
            </a:r>
            <a:r>
              <a:rPr lang="en-US" sz="1300" b="1" dirty="0">
                <a:solidFill>
                  <a:srgbClr val="2A6F97"/>
                </a:solidFill>
                <a:latin typeface="Calibri" pitchFamily="34" charset="0"/>
                <a:ea typeface="Calibri" pitchFamily="34" charset="-122"/>
                <a:cs typeface="Calibri" pitchFamily="34" charset="-120"/>
              </a:rPr>
              <a:t>5.1</a:t>
            </a:r>
            <a:r>
              <a:rPr lang="en-US" sz="1300" dirty="0">
                <a:solidFill>
                  <a:srgbClr val="24344D"/>
                </a:solidFill>
                <a:latin typeface="Calibri" pitchFamily="34" charset="0"/>
                <a:ea typeface="Calibri" pitchFamily="34" charset="-122"/>
                <a:cs typeface="Calibri" pitchFamily="34" charset="-120"/>
              </a:rPr>
              <a:t> while plot sense sits at just </a:t>
            </a:r>
            <a:r>
              <a:rPr lang="en-US" sz="1300" b="1" dirty="0">
                <a:solidFill>
                  <a:srgbClr val="8E5572"/>
                </a:solidFill>
                <a:latin typeface="Calibri" pitchFamily="34" charset="0"/>
                <a:ea typeface="Calibri" pitchFamily="34" charset="-122"/>
                <a:cs typeface="Calibri" pitchFamily="34" charset="-120"/>
              </a:rPr>
              <a:t>3.1</a:t>
            </a:r>
            <a:r>
              <a:rPr lang="en-US" sz="1300" dirty="0">
                <a:solidFill>
                  <a:srgbClr val="24344D"/>
                </a:solidFill>
                <a:latin typeface="Calibri" pitchFamily="34" charset="0"/>
                <a:ea typeface="Calibri" pitchFamily="34" charset="-122"/>
                <a:cs typeface="Calibri" pitchFamily="34" charset="-120"/>
              </a:rPr>
              <a:t>.</a:t>
            </a:r>
            <a:endParaRPr lang="en-US" sz="1300" dirty="0"/>
          </a:p>
        </p:txBody>
      </p:sp>
      <p:sp>
        <p:nvSpPr>
          <p:cNvPr id="10" name="Text 7"/>
          <p:cNvSpPr/>
          <p:nvPr/>
        </p:nvSpPr>
        <p:spPr>
          <a:xfrm>
            <a:off x="8001000" y="3703320"/>
            <a:ext cx="3520440" cy="274320"/>
          </a:xfrm>
          <a:prstGeom prst="rect">
            <a:avLst/>
          </a:prstGeom>
          <a:noFill/>
          <a:ln/>
        </p:spPr>
        <p:txBody>
          <a:bodyPr wrap="square" lIns="0" tIns="0" rIns="0" bIns="0" rtlCol="0" anchor="ctr"/>
          <a:lstStyle/>
          <a:p>
            <a:pPr marL="0" indent="0">
              <a:buNone/>
            </a:pPr>
            <a:r>
              <a:rPr lang="en-US" sz="1100" b="1" dirty="0">
                <a:solidFill>
                  <a:srgbClr val="5B6B82"/>
                </a:solidFill>
                <a:latin typeface="Calibri" pitchFamily="34" charset="0"/>
                <a:ea typeface="Calibri" pitchFamily="34" charset="-122"/>
                <a:cs typeface="Calibri" pitchFamily="34" charset="-120"/>
              </a:rPr>
              <a:t>Grammar − consistency gap</a:t>
            </a:r>
            <a:endParaRPr lang="en-US" sz="1100" dirty="0"/>
          </a:p>
        </p:txBody>
      </p:sp>
      <p:sp>
        <p:nvSpPr>
          <p:cNvPr id="11" name="Text 8"/>
          <p:cNvSpPr/>
          <p:nvPr/>
        </p:nvSpPr>
        <p:spPr>
          <a:xfrm>
            <a:off x="8001000" y="3977640"/>
            <a:ext cx="3520440" cy="731520"/>
          </a:xfrm>
          <a:prstGeom prst="rect">
            <a:avLst/>
          </a:prstGeom>
          <a:noFill/>
          <a:ln/>
        </p:spPr>
        <p:txBody>
          <a:bodyPr wrap="square" lIns="0" tIns="0" rIns="0" bIns="0" rtlCol="0" anchor="ctr"/>
          <a:lstStyle/>
          <a:p>
            <a:pPr marL="0" indent="0">
              <a:spcAft>
                <a:spcPts val="300"/>
              </a:spcAft>
              <a:buNone/>
            </a:pPr>
            <a:r>
              <a:rPr lang="en-US" sz="1300" dirty="0">
                <a:solidFill>
                  <a:srgbClr val="24344D"/>
                </a:solidFill>
                <a:latin typeface="Calibri" pitchFamily="34" charset="0"/>
                <a:ea typeface="Calibri" pitchFamily="34" charset="-122"/>
                <a:cs typeface="Calibri" pitchFamily="34" charset="-120"/>
              </a:rPr>
              <a:t>XS: 1.08</a:t>
            </a:r>
            <a:endParaRPr lang="en-US" sz="1300" dirty="0"/>
          </a:p>
          <a:p>
            <a:pPr marL="0" indent="0">
              <a:buNone/>
            </a:pPr>
            <a:r>
              <a:rPr lang="en-US" sz="1300" dirty="0">
                <a:solidFill>
                  <a:srgbClr val="24344D"/>
                </a:solidFill>
                <a:latin typeface="Calibri" pitchFamily="34" charset="0"/>
                <a:ea typeface="Calibri" pitchFamily="34" charset="-122"/>
                <a:cs typeface="Calibri" pitchFamily="34" charset="-120"/>
              </a:rPr>
              <a:t>XL: 0.16</a:t>
            </a:r>
            <a:endParaRPr lang="en-US" sz="1300" dirty="0"/>
          </a:p>
        </p:txBody>
      </p:sp>
      <p:sp>
        <p:nvSpPr>
          <p:cNvPr id="12" name="Text 9"/>
          <p:cNvSpPr/>
          <p:nvPr/>
        </p:nvSpPr>
        <p:spPr>
          <a:xfrm>
            <a:off x="8001000" y="4709160"/>
            <a:ext cx="3520440" cy="1188720"/>
          </a:xfrm>
          <a:prstGeom prst="rect">
            <a:avLst/>
          </a:prstGeom>
          <a:noFill/>
          <a:ln/>
        </p:spPr>
        <p:txBody>
          <a:bodyPr wrap="square" lIns="0" tIns="0" rIns="0" bIns="0" rtlCol="0" anchor="t"/>
          <a:lstStyle/>
          <a:p>
            <a:pPr marL="0" indent="0">
              <a:buNone/>
            </a:pPr>
            <a:r>
              <a:rPr lang="en-US" sz="1250" dirty="0">
                <a:solidFill>
                  <a:srgbClr val="24344D"/>
                </a:solidFill>
                <a:latin typeface="Calibri" pitchFamily="34" charset="0"/>
                <a:ea typeface="Calibri" pitchFamily="34" charset="-122"/>
                <a:cs typeface="Calibri" pitchFamily="34" charset="-120"/>
              </a:rPr>
              <a:t>The gap shrinks 7× — smaller models keep grammar but lose the higher-order skills. </a:t>
            </a:r>
            <a:r>
              <a:rPr lang="en-US" sz="1250" b="1" dirty="0">
                <a:solidFill>
                  <a:srgbClr val="2A9D8F"/>
                </a:solidFill>
                <a:latin typeface="Calibri" pitchFamily="34" charset="0"/>
                <a:ea typeface="Calibri" pitchFamily="34" charset="-122"/>
                <a:cs typeface="Calibri" pitchFamily="34" charset="-120"/>
              </a:rPr>
              <a:t>✓ Claim 2 reproduced.</a:t>
            </a:r>
            <a:endParaRPr lang="en-US" sz="1250" dirty="0"/>
          </a:p>
        </p:txBody>
      </p:sp>
      <p:sp>
        <p:nvSpPr>
          <p:cNvPr id="13" name="Text 1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14" name="Text 11"/>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 — CLAIM 3</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Outputs are generated, not memorized</a:t>
            </a:r>
            <a:endParaRPr lang="en-US" sz="3000" dirty="0"/>
          </a:p>
        </p:txBody>
      </p:sp>
      <p:graphicFrame>
        <p:nvGraphicFramePr>
          <p:cNvPr id="5" name="Chart 0"/>
          <p:cNvGraphicFramePr/>
          <p:nvPr/>
        </p:nvGraphicFramePr>
        <p:xfrm>
          <a:off x="457200" y="178308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783080"/>
            <a:ext cx="3931920" cy="4297680"/>
          </a:xfrm>
          <a:prstGeom prst="roundRect">
            <a:avLst>
              <a:gd name="adj" fmla="val 1860"/>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Text 4"/>
          <p:cNvSpPr/>
          <p:nvPr/>
        </p:nvSpPr>
        <p:spPr>
          <a:xfrm>
            <a:off x="8001000" y="1965960"/>
            <a:ext cx="3474720" cy="274320"/>
          </a:xfrm>
          <a:prstGeom prst="rect">
            <a:avLst/>
          </a:prstGeom>
          <a:noFill/>
          <a:ln/>
        </p:spPr>
        <p:txBody>
          <a:bodyPr wrap="square" lIns="0" tIns="0" rIns="0" bIns="0" rtlCol="0" anchor="ctr"/>
          <a:lstStyle/>
          <a:p>
            <a:pPr marL="0" indent="0">
              <a:buNone/>
            </a:pPr>
            <a:r>
              <a:rPr lang="en-US" sz="1100" b="1" kern="0" spc="150" dirty="0">
                <a:solidFill>
                  <a:srgbClr val="E8833A"/>
                </a:solidFill>
                <a:latin typeface="Calibri" pitchFamily="34" charset="0"/>
                <a:ea typeface="Calibri" pitchFamily="34" charset="-122"/>
                <a:cs typeface="Calibri" pitchFamily="34" charset="-120"/>
              </a:rPr>
              <a:t>INTERPRETATION</a:t>
            </a:r>
            <a:endParaRPr lang="en-US" sz="1100" dirty="0"/>
          </a:p>
        </p:txBody>
      </p:sp>
      <p:sp>
        <p:nvSpPr>
          <p:cNvPr id="8" name="Text 5"/>
          <p:cNvSpPr/>
          <p:nvPr/>
        </p:nvSpPr>
        <p:spPr>
          <a:xfrm>
            <a:off x="8001000" y="2286000"/>
            <a:ext cx="352044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No memorization signal</a:t>
            </a:r>
            <a:endParaRPr lang="en-US" sz="1600" dirty="0"/>
          </a:p>
        </p:txBody>
      </p:sp>
      <p:sp>
        <p:nvSpPr>
          <p:cNvPr id="9" name="Text 6"/>
          <p:cNvSpPr/>
          <p:nvPr/>
        </p:nvSpPr>
        <p:spPr>
          <a:xfrm>
            <a:off x="8001000" y="2788920"/>
            <a:ext cx="3520440" cy="1188720"/>
          </a:xfrm>
          <a:prstGeom prst="rect">
            <a:avLst/>
          </a:prstGeom>
          <a:noFill/>
          <a:ln/>
        </p:spPr>
        <p:txBody>
          <a:bodyPr wrap="square" lIns="0" tIns="0" rIns="0" bIns="0" rtlCol="0" anchor="t"/>
          <a:lstStyle/>
          <a:p>
            <a:pPr marL="0" indent="0">
              <a:buNone/>
            </a:pPr>
            <a:r>
              <a:rPr lang="en-US" sz="1250" dirty="0">
                <a:solidFill>
                  <a:srgbClr val="24344D"/>
                </a:solidFill>
                <a:latin typeface="Calibri" pitchFamily="34" charset="0"/>
                <a:ea typeface="Calibri" pitchFamily="34" charset="-122"/>
                <a:cs typeface="Calibri" pitchFamily="34" charset="-120"/>
              </a:rPr>
              <a:t>Absolute overlap is ~99% against </a:t>
            </a:r>
            <a:r>
              <a:rPr lang="en-US" sz="1250" b="1" dirty="0">
                <a:solidFill>
                  <a:srgbClr val="E8833A"/>
                </a:solidFill>
                <a:latin typeface="Calibri" pitchFamily="34" charset="0"/>
                <a:ea typeface="Calibri" pitchFamily="34" charset="-122"/>
                <a:cs typeface="Calibri" pitchFamily="34" charset="-120"/>
              </a:rPr>
              <a:t>both</a:t>
            </a:r>
            <a:r>
              <a:rPr lang="en-US" sz="1250" dirty="0">
                <a:solidFill>
                  <a:srgbClr val="24344D"/>
                </a:solidFill>
                <a:latin typeface="Calibri" pitchFamily="34" charset="0"/>
                <a:ea typeface="Calibri" pitchFamily="34" charset="-122"/>
                <a:cs typeface="Calibri" pitchFamily="34" charset="-120"/>
              </a:rPr>
              <a:t> train and valid — expected, since common short character strings saturate over millions of stories.</a:t>
            </a:r>
            <a:endParaRPr lang="en-US" sz="1250" dirty="0"/>
          </a:p>
        </p:txBody>
      </p:sp>
      <p:sp>
        <p:nvSpPr>
          <p:cNvPr id="10" name="Text 7"/>
          <p:cNvSpPr/>
          <p:nvPr/>
        </p:nvSpPr>
        <p:spPr>
          <a:xfrm>
            <a:off x="8001000" y="3977640"/>
            <a:ext cx="3520440" cy="1371600"/>
          </a:xfrm>
          <a:prstGeom prst="rect">
            <a:avLst/>
          </a:prstGeom>
          <a:noFill/>
          <a:ln/>
        </p:spPr>
        <p:txBody>
          <a:bodyPr wrap="square" lIns="0" tIns="0" rIns="0" bIns="0" rtlCol="0" anchor="t"/>
          <a:lstStyle/>
          <a:p>
            <a:pPr marL="0" indent="0">
              <a:buNone/>
            </a:pPr>
            <a:r>
              <a:rPr lang="en-US" sz="1250" dirty="0">
                <a:solidFill>
                  <a:srgbClr val="24344D"/>
                </a:solidFill>
                <a:latin typeface="Calibri" pitchFamily="34" charset="0"/>
                <a:ea typeface="Calibri" pitchFamily="34" charset="-122"/>
                <a:cs typeface="Calibri" pitchFamily="34" charset="-120"/>
              </a:rPr>
              <a:t>The honest test is the train−valid gap: a memorizing model would echo training stories far more. Instead the gap stays </a:t>
            </a:r>
            <a:r>
              <a:rPr lang="en-US" sz="1250" b="1" dirty="0">
                <a:solidFill>
                  <a:srgbClr val="2A9D8F"/>
                </a:solidFill>
                <a:latin typeface="Calibri" pitchFamily="34" charset="0"/>
                <a:ea typeface="Calibri" pitchFamily="34" charset="-122"/>
                <a:cs typeface="Calibri" pitchFamily="34" charset="-120"/>
              </a:rPr>
              <a:t>below 0.5 pp</a:t>
            </a:r>
            <a:r>
              <a:rPr lang="en-US" sz="1250" dirty="0">
                <a:solidFill>
                  <a:srgbClr val="24344D"/>
                </a:solidFill>
                <a:latin typeface="Calibri" pitchFamily="34" charset="0"/>
                <a:ea typeface="Calibri" pitchFamily="34" charset="-122"/>
                <a:cs typeface="Calibri" pitchFamily="34" charset="-120"/>
              </a:rPr>
              <a:t> and never grows with size.</a:t>
            </a:r>
            <a:endParaRPr lang="en-US" sz="1250" dirty="0"/>
          </a:p>
        </p:txBody>
      </p:sp>
      <p:sp>
        <p:nvSpPr>
          <p:cNvPr id="11" name="Text 8"/>
          <p:cNvSpPr/>
          <p:nvPr/>
        </p:nvSpPr>
        <p:spPr>
          <a:xfrm>
            <a:off x="8001000" y="5532120"/>
            <a:ext cx="3520440" cy="365760"/>
          </a:xfrm>
          <a:prstGeom prst="rect">
            <a:avLst/>
          </a:prstGeom>
          <a:noFill/>
          <a:ln/>
        </p:spPr>
        <p:txBody>
          <a:bodyPr wrap="square" lIns="0" tIns="0" rIns="0" bIns="0" rtlCol="0" anchor="ctr"/>
          <a:lstStyle/>
          <a:p>
            <a:pPr marL="0" indent="0">
              <a:buNone/>
            </a:pPr>
            <a:r>
              <a:rPr lang="en-US" sz="1300" b="1" dirty="0">
                <a:solidFill>
                  <a:srgbClr val="2A9D8F"/>
                </a:solidFill>
                <a:latin typeface="Calibri" pitchFamily="34" charset="0"/>
                <a:ea typeface="Calibri" pitchFamily="34" charset="-122"/>
                <a:cs typeface="Calibri" pitchFamily="34" charset="-120"/>
              </a:rPr>
              <a:t>✓ Claim 3 reproduced.</a:t>
            </a:r>
            <a:endParaRPr lang="en-US" sz="1300" dirty="0"/>
          </a:p>
        </p:txBody>
      </p:sp>
      <p:sp>
        <p:nvSpPr>
          <p:cNvPr id="12" name="Text 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13" name="Text 10"/>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What the numbers look like — XS vs. XL</a:t>
            </a:r>
            <a:endParaRPr lang="en-US" sz="3000" dirty="0"/>
          </a:p>
        </p:txBody>
      </p:sp>
      <p:sp>
        <p:nvSpPr>
          <p:cNvPr id="5" name="Text 3"/>
          <p:cNvSpPr/>
          <p:nvPr/>
        </p:nvSpPr>
        <p:spPr>
          <a:xfrm>
            <a:off x="502920" y="1645920"/>
            <a:ext cx="11155680" cy="548640"/>
          </a:xfrm>
          <a:prstGeom prst="rect">
            <a:avLst/>
          </a:prstGeom>
          <a:noFill/>
          <a:ln/>
        </p:spPr>
        <p:txBody>
          <a:bodyPr wrap="square" lIns="0" tIns="0" rIns="0" bIns="0" rtlCol="0" anchor="ctr"/>
          <a:lstStyle/>
          <a:p>
            <a:pPr marL="0" indent="0">
              <a:buNone/>
            </a:pPr>
            <a:r>
              <a:rPr lang="en-US" sz="1400" b="1" dirty="0">
                <a:solidFill>
                  <a:srgbClr val="E8833A"/>
                </a:solidFill>
                <a:latin typeface="Calibri" pitchFamily="34" charset="0"/>
                <a:ea typeface="Calibri" pitchFamily="34" charset="-122"/>
                <a:cs typeface="Calibri" pitchFamily="34" charset="-120"/>
              </a:rPr>
              <a:t>Prompt:  </a:t>
            </a:r>
            <a:r>
              <a:rPr lang="en-US" sz="1400" i="1" dirty="0">
                <a:solidFill>
                  <a:srgbClr val="24344D"/>
                </a:solidFill>
                <a:latin typeface="Calibri" pitchFamily="34" charset="0"/>
                <a:ea typeface="Calibri" pitchFamily="34" charset="-122"/>
                <a:cs typeface="Calibri" pitchFamily="34" charset="-120"/>
              </a:rPr>
              <a:t>“Once upon a time, there was a little girl named Lucy. She was very adventurous. One day, she found …”</a:t>
            </a:r>
            <a:endParaRPr lang="en-US" sz="1400" dirty="0"/>
          </a:p>
        </p:txBody>
      </p:sp>
      <p:sp>
        <p:nvSpPr>
          <p:cNvPr id="6" name="Shape 4"/>
          <p:cNvSpPr/>
          <p:nvPr/>
        </p:nvSpPr>
        <p:spPr>
          <a:xfrm>
            <a:off x="502920" y="2286000"/>
            <a:ext cx="5486400" cy="3246120"/>
          </a:xfrm>
          <a:prstGeom prst="roundRect">
            <a:avLst>
              <a:gd name="adj" fmla="val 2254"/>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Shape 5"/>
          <p:cNvSpPr/>
          <p:nvPr/>
        </p:nvSpPr>
        <p:spPr>
          <a:xfrm>
            <a:off x="731520" y="2487168"/>
            <a:ext cx="1371600" cy="365760"/>
          </a:xfrm>
          <a:prstGeom prst="roundRect">
            <a:avLst>
              <a:gd name="adj" fmla="val 12500"/>
            </a:avLst>
          </a:prstGeom>
          <a:solidFill>
            <a:srgbClr val="8E5572"/>
          </a:solidFill>
          <a:ln/>
        </p:spPr>
        <p:txBody>
          <a:bodyPr/>
          <a:lstStyle/>
          <a:p>
            <a:endParaRPr lang="en-US"/>
          </a:p>
        </p:txBody>
      </p:sp>
      <p:sp>
        <p:nvSpPr>
          <p:cNvPr id="8" name="Text 6"/>
          <p:cNvSpPr/>
          <p:nvPr/>
        </p:nvSpPr>
        <p:spPr>
          <a:xfrm>
            <a:off x="731520" y="2487168"/>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XS · 1M</a:t>
            </a:r>
            <a:endParaRPr lang="en-US" sz="1200" dirty="0"/>
          </a:p>
        </p:txBody>
      </p:sp>
      <p:sp>
        <p:nvSpPr>
          <p:cNvPr id="9" name="Text 7"/>
          <p:cNvSpPr/>
          <p:nvPr/>
        </p:nvSpPr>
        <p:spPr>
          <a:xfrm>
            <a:off x="731520" y="2971800"/>
            <a:ext cx="5029200" cy="1691640"/>
          </a:xfrm>
          <a:prstGeom prst="rect">
            <a:avLst/>
          </a:prstGeom>
          <a:noFill/>
          <a:ln/>
        </p:spPr>
        <p:txBody>
          <a:bodyPr wrap="square" lIns="0" tIns="0" rIns="0" bIns="0" rtlCol="0" anchor="t"/>
          <a:lstStyle/>
          <a:p>
            <a:pPr marL="0" indent="0">
              <a:lnSpc>
                <a:spcPct val="108000"/>
              </a:lnSpc>
              <a:buNone/>
            </a:pPr>
            <a:r>
              <a:rPr lang="en-US" sz="1300" i="1" dirty="0">
                <a:solidFill>
                  <a:srgbClr val="24344D"/>
                </a:solidFill>
                <a:latin typeface="Calibri" pitchFamily="34" charset="0"/>
                <a:ea typeface="Calibri" pitchFamily="34" charset="-122"/>
                <a:cs typeface="Calibri" pitchFamily="34" charset="-120"/>
              </a:rPr>
              <a:t>“… a big, scary cat. The cat was very happy. The cat was very happy. The cat was very happy. The cat was very happy. The cat was happy to have a friend. The cat was happy.”</a:t>
            </a:r>
            <a:endParaRPr lang="en-US" sz="1300" dirty="0"/>
          </a:p>
        </p:txBody>
      </p:sp>
      <p:sp>
        <p:nvSpPr>
          <p:cNvPr id="10" name="Text 8"/>
          <p:cNvSpPr/>
          <p:nvPr/>
        </p:nvSpPr>
        <p:spPr>
          <a:xfrm>
            <a:off x="731520" y="5029200"/>
            <a:ext cx="5029200" cy="365760"/>
          </a:xfrm>
          <a:prstGeom prst="rect">
            <a:avLst/>
          </a:prstGeom>
          <a:noFill/>
          <a:ln/>
        </p:spPr>
        <p:txBody>
          <a:bodyPr wrap="square" lIns="0" tIns="0" rIns="0" bIns="0" rtlCol="0" anchor="ctr"/>
          <a:lstStyle/>
          <a:p>
            <a:pPr marL="0" indent="0">
              <a:buNone/>
            </a:pPr>
            <a:r>
              <a:rPr lang="en-US" sz="1250" b="1" dirty="0">
                <a:solidFill>
                  <a:srgbClr val="2A6F97"/>
                </a:solidFill>
                <a:latin typeface="Calibri" pitchFamily="34" charset="0"/>
                <a:ea typeface="Calibri" pitchFamily="34" charset="-122"/>
                <a:cs typeface="Calibri" pitchFamily="34" charset="-120"/>
              </a:rPr>
              <a:t>grammar 5   </a:t>
            </a:r>
            <a:r>
              <a:rPr lang="en-US" sz="1250" b="1" dirty="0">
                <a:solidFill>
                  <a:srgbClr val="2A9D8F"/>
                </a:solidFill>
                <a:latin typeface="Calibri" pitchFamily="34" charset="0"/>
                <a:ea typeface="Calibri" pitchFamily="34" charset="-122"/>
                <a:cs typeface="Calibri" pitchFamily="34" charset="-120"/>
              </a:rPr>
              <a:t>consistency 2   </a:t>
            </a:r>
            <a:r>
              <a:rPr lang="en-US" sz="1250" b="1" dirty="0">
                <a:solidFill>
                  <a:srgbClr val="8E5572"/>
                </a:solidFill>
                <a:latin typeface="Calibri" pitchFamily="34" charset="0"/>
                <a:ea typeface="Calibri" pitchFamily="34" charset="-122"/>
                <a:cs typeface="Calibri" pitchFamily="34" charset="-120"/>
              </a:rPr>
              <a:t>plot 2</a:t>
            </a:r>
            <a:endParaRPr lang="en-US" sz="1250" dirty="0"/>
          </a:p>
        </p:txBody>
      </p:sp>
      <p:sp>
        <p:nvSpPr>
          <p:cNvPr id="11" name="Shape 9"/>
          <p:cNvSpPr/>
          <p:nvPr/>
        </p:nvSpPr>
        <p:spPr>
          <a:xfrm>
            <a:off x="6199632" y="2286000"/>
            <a:ext cx="5486400" cy="3246120"/>
          </a:xfrm>
          <a:prstGeom prst="roundRect">
            <a:avLst>
              <a:gd name="adj" fmla="val 2254"/>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2" name="Shape 10"/>
          <p:cNvSpPr/>
          <p:nvPr/>
        </p:nvSpPr>
        <p:spPr>
          <a:xfrm>
            <a:off x="6428232" y="2487168"/>
            <a:ext cx="1371600" cy="365760"/>
          </a:xfrm>
          <a:prstGeom prst="roundRect">
            <a:avLst>
              <a:gd name="adj" fmla="val 12500"/>
            </a:avLst>
          </a:prstGeom>
          <a:solidFill>
            <a:srgbClr val="2A9D8F"/>
          </a:solidFill>
          <a:ln/>
        </p:spPr>
        <p:txBody>
          <a:bodyPr/>
          <a:lstStyle/>
          <a:p>
            <a:endParaRPr lang="en-US"/>
          </a:p>
        </p:txBody>
      </p:sp>
      <p:sp>
        <p:nvSpPr>
          <p:cNvPr id="13" name="Text 11"/>
          <p:cNvSpPr/>
          <p:nvPr/>
        </p:nvSpPr>
        <p:spPr>
          <a:xfrm>
            <a:off x="6428232" y="2487168"/>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XL · 56M</a:t>
            </a:r>
            <a:endParaRPr lang="en-US" sz="1200" dirty="0"/>
          </a:p>
        </p:txBody>
      </p:sp>
      <p:sp>
        <p:nvSpPr>
          <p:cNvPr id="14" name="Text 12"/>
          <p:cNvSpPr/>
          <p:nvPr/>
        </p:nvSpPr>
        <p:spPr>
          <a:xfrm>
            <a:off x="6428232" y="2971800"/>
            <a:ext cx="5029200" cy="1783080"/>
          </a:xfrm>
          <a:prstGeom prst="rect">
            <a:avLst/>
          </a:prstGeom>
          <a:noFill/>
          <a:ln/>
        </p:spPr>
        <p:txBody>
          <a:bodyPr wrap="square" lIns="0" tIns="0" rIns="0" bIns="0" rtlCol="0" anchor="t"/>
          <a:lstStyle/>
          <a:p>
            <a:pPr marL="0" indent="0">
              <a:lnSpc>
                <a:spcPct val="108000"/>
              </a:lnSpc>
              <a:buNone/>
            </a:pPr>
            <a:r>
              <a:rPr lang="en-US" sz="1300" i="1" dirty="0">
                <a:solidFill>
                  <a:srgbClr val="24344D"/>
                </a:solidFill>
                <a:latin typeface="Calibri" pitchFamily="34" charset="0"/>
                <a:ea typeface="Calibri" pitchFamily="34" charset="-122"/>
                <a:cs typeface="Calibri" pitchFamily="34" charset="-120"/>
              </a:rPr>
              <a:t>“… a big box in her room. She wanted to see what was inside. Lucy tried to open the box, but it was locked. She asked her mom for help. Her mom said, ‘I will help you, but first you must promise to be careful.’ Lucy promised …”</a:t>
            </a:r>
            <a:endParaRPr lang="en-US" sz="1300" dirty="0"/>
          </a:p>
        </p:txBody>
      </p:sp>
      <p:sp>
        <p:nvSpPr>
          <p:cNvPr id="15" name="Text 13"/>
          <p:cNvSpPr/>
          <p:nvPr/>
        </p:nvSpPr>
        <p:spPr>
          <a:xfrm>
            <a:off x="6428232" y="5029200"/>
            <a:ext cx="5029200" cy="365760"/>
          </a:xfrm>
          <a:prstGeom prst="rect">
            <a:avLst/>
          </a:prstGeom>
          <a:noFill/>
          <a:ln/>
        </p:spPr>
        <p:txBody>
          <a:bodyPr wrap="square" lIns="0" tIns="0" rIns="0" bIns="0" rtlCol="0" anchor="ctr"/>
          <a:lstStyle/>
          <a:p>
            <a:pPr marL="0" indent="0">
              <a:buNone/>
            </a:pPr>
            <a:r>
              <a:rPr lang="en-US" sz="1250" b="1" dirty="0">
                <a:solidFill>
                  <a:srgbClr val="2A6F97"/>
                </a:solidFill>
                <a:latin typeface="Calibri" pitchFamily="34" charset="0"/>
                <a:ea typeface="Calibri" pitchFamily="34" charset="-122"/>
                <a:cs typeface="Calibri" pitchFamily="34" charset="-120"/>
              </a:rPr>
              <a:t>grammar 10   </a:t>
            </a:r>
            <a:r>
              <a:rPr lang="en-US" sz="1250" b="1" dirty="0">
                <a:solidFill>
                  <a:srgbClr val="2A9D8F"/>
                </a:solidFill>
                <a:latin typeface="Calibri" pitchFamily="34" charset="0"/>
                <a:ea typeface="Calibri" pitchFamily="34" charset="-122"/>
                <a:cs typeface="Calibri" pitchFamily="34" charset="-120"/>
              </a:rPr>
              <a:t>consistency 10   </a:t>
            </a:r>
            <a:r>
              <a:rPr lang="en-US" sz="1250" b="1" dirty="0">
                <a:solidFill>
                  <a:srgbClr val="8E5572"/>
                </a:solidFill>
                <a:latin typeface="Calibri" pitchFamily="34" charset="0"/>
                <a:ea typeface="Calibri" pitchFamily="34" charset="-122"/>
                <a:cs typeface="Calibri" pitchFamily="34" charset="-120"/>
              </a:rPr>
              <a:t>plot 7</a:t>
            </a:r>
            <a:endParaRPr lang="en-US" sz="1250" dirty="0"/>
          </a:p>
        </p:txBody>
      </p:sp>
      <p:sp>
        <p:nvSpPr>
          <p:cNvPr id="16" name="Text 14"/>
          <p:cNvSpPr/>
          <p:nvPr/>
        </p:nvSpPr>
        <p:spPr>
          <a:xfrm>
            <a:off x="502920" y="5669280"/>
            <a:ext cx="11155680" cy="5029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Same prompt, same decoding. </a:t>
            </a:r>
            <a:r>
              <a:rPr lang="en-US" sz="1350" dirty="0">
                <a:solidFill>
                  <a:srgbClr val="24344D"/>
                </a:solidFill>
                <a:latin typeface="Calibri" pitchFamily="34" charset="0"/>
                <a:ea typeface="Calibri" pitchFamily="34" charset="-122"/>
                <a:cs typeface="Calibri" pitchFamily="34" charset="-120"/>
              </a:rPr>
              <a:t>XS collapses into a repetition loop; XL introduces a goal, a problem (locked box), dialogue and a resolution.</a:t>
            </a:r>
            <a:endParaRPr lang="en-US" sz="1350" dirty="0"/>
          </a:p>
        </p:txBody>
      </p:sp>
      <p:sp>
        <p:nvSpPr>
          <p:cNvPr id="17" name="Text 15"/>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18" name="Text 16"/>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E8833A"/>
                </a:solidFill>
                <a:latin typeface="Calibri" pitchFamily="34" charset="0"/>
                <a:ea typeface="Calibri" pitchFamily="34" charset="-122"/>
                <a:cs typeface="Calibri" pitchFamily="34" charset="-120"/>
              </a:rPr>
              <a:t>3 · REPRODUCTION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Challenges &amp; design decisions</a:t>
            </a:r>
            <a:endParaRPr lang="en-US" sz="3000" dirty="0"/>
          </a:p>
        </p:txBody>
      </p:sp>
      <p:sp>
        <p:nvSpPr>
          <p:cNvPr id="5" name="Shape 3"/>
          <p:cNvSpPr/>
          <p:nvPr/>
        </p:nvSpPr>
        <p:spPr>
          <a:xfrm>
            <a:off x="502920" y="1783080"/>
            <a:ext cx="5486400" cy="1783080"/>
          </a:xfrm>
          <a:prstGeom prst="roundRect">
            <a:avLst>
              <a:gd name="adj" fmla="val 410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6" name="Shape 4"/>
          <p:cNvSpPr/>
          <p:nvPr/>
        </p:nvSpPr>
        <p:spPr>
          <a:xfrm>
            <a:off x="777240" y="2075688"/>
            <a:ext cx="548640" cy="548640"/>
          </a:xfrm>
          <a:prstGeom prst="ellipse">
            <a:avLst/>
          </a:prstGeom>
          <a:solidFill>
            <a:srgbClr val="2A6F97"/>
          </a:solidFill>
          <a:ln/>
        </p:spPr>
        <p:txBody>
          <a:bodyPr/>
          <a:lstStyle/>
          <a:p>
            <a:endParaRPr lang="en-US"/>
          </a:p>
        </p:txBody>
      </p:sp>
      <p:sp>
        <p:nvSpPr>
          <p:cNvPr id="7" name="Text 5"/>
          <p:cNvSpPr/>
          <p:nvPr/>
        </p:nvSpPr>
        <p:spPr>
          <a:xfrm>
            <a:off x="777240" y="207568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8" name="Text 6"/>
          <p:cNvSpPr/>
          <p:nvPr/>
        </p:nvSpPr>
        <p:spPr>
          <a:xfrm>
            <a:off x="1463040" y="2057400"/>
            <a:ext cx="4297680" cy="50292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Paper gives few exact configs</a:t>
            </a:r>
            <a:endParaRPr lang="en-US" sz="1550" dirty="0"/>
          </a:p>
        </p:txBody>
      </p:sp>
      <p:sp>
        <p:nvSpPr>
          <p:cNvPr id="9" name="Text 7"/>
          <p:cNvSpPr/>
          <p:nvPr/>
        </p:nvSpPr>
        <p:spPr>
          <a:xfrm>
            <a:off x="1463040" y="2606040"/>
            <a:ext cx="429768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We chose our own width/depth ladder to hit 1M–56M targets, and matched the paper's eval protocol (50 prompts × 10 samples, temp 1).</a:t>
            </a:r>
            <a:endParaRPr lang="en-US" sz="1250" dirty="0"/>
          </a:p>
        </p:txBody>
      </p:sp>
      <p:sp>
        <p:nvSpPr>
          <p:cNvPr id="10" name="Shape 8"/>
          <p:cNvSpPr/>
          <p:nvPr/>
        </p:nvSpPr>
        <p:spPr>
          <a:xfrm>
            <a:off x="6199632" y="1783080"/>
            <a:ext cx="5486400" cy="1783080"/>
          </a:xfrm>
          <a:prstGeom prst="roundRect">
            <a:avLst>
              <a:gd name="adj" fmla="val 410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1" name="Shape 9"/>
          <p:cNvSpPr/>
          <p:nvPr/>
        </p:nvSpPr>
        <p:spPr>
          <a:xfrm>
            <a:off x="6473952" y="2075688"/>
            <a:ext cx="548640" cy="548640"/>
          </a:xfrm>
          <a:prstGeom prst="ellipse">
            <a:avLst/>
          </a:prstGeom>
          <a:solidFill>
            <a:srgbClr val="2A9D8F"/>
          </a:solidFill>
          <a:ln/>
        </p:spPr>
        <p:txBody>
          <a:bodyPr/>
          <a:lstStyle/>
          <a:p>
            <a:endParaRPr lang="en-US"/>
          </a:p>
        </p:txBody>
      </p:sp>
      <p:sp>
        <p:nvSpPr>
          <p:cNvPr id="12" name="Text 10"/>
          <p:cNvSpPr/>
          <p:nvPr/>
        </p:nvSpPr>
        <p:spPr>
          <a:xfrm>
            <a:off x="6473952" y="207568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7159752" y="2057400"/>
            <a:ext cx="4297680" cy="50292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GPT-4 grading is costly &amp; noisy</a:t>
            </a:r>
            <a:endParaRPr lang="en-US" sz="1550" dirty="0"/>
          </a:p>
        </p:txBody>
      </p:sp>
      <p:sp>
        <p:nvSpPr>
          <p:cNvPr id="14" name="Text 12"/>
          <p:cNvSpPr/>
          <p:nvPr/>
        </p:nvSpPr>
        <p:spPr>
          <a:xfrm>
            <a:off x="7159752" y="2606040"/>
            <a:ext cx="429768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Scores vary run-to-run; we average over 50 prompts per model and report means to keep the comparison stable.</a:t>
            </a:r>
            <a:endParaRPr lang="en-US" sz="1250" dirty="0"/>
          </a:p>
        </p:txBody>
      </p:sp>
      <p:sp>
        <p:nvSpPr>
          <p:cNvPr id="15" name="Shape 13"/>
          <p:cNvSpPr/>
          <p:nvPr/>
        </p:nvSpPr>
        <p:spPr>
          <a:xfrm>
            <a:off x="502920" y="3767328"/>
            <a:ext cx="5486400" cy="1783080"/>
          </a:xfrm>
          <a:prstGeom prst="roundRect">
            <a:avLst>
              <a:gd name="adj" fmla="val 410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6" name="Shape 14"/>
          <p:cNvSpPr/>
          <p:nvPr/>
        </p:nvSpPr>
        <p:spPr>
          <a:xfrm>
            <a:off x="777240" y="4059936"/>
            <a:ext cx="548640" cy="548640"/>
          </a:xfrm>
          <a:prstGeom prst="ellipse">
            <a:avLst/>
          </a:prstGeom>
          <a:solidFill>
            <a:srgbClr val="E8833A"/>
          </a:solidFill>
          <a:ln/>
        </p:spPr>
        <p:txBody>
          <a:bodyPr/>
          <a:lstStyle/>
          <a:p>
            <a:endParaRPr lang="en-US"/>
          </a:p>
        </p:txBody>
      </p:sp>
      <p:sp>
        <p:nvSpPr>
          <p:cNvPr id="17" name="Text 15"/>
          <p:cNvSpPr/>
          <p:nvPr/>
        </p:nvSpPr>
        <p:spPr>
          <a:xfrm>
            <a:off x="777240" y="4059936"/>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8" name="Text 16"/>
          <p:cNvSpPr/>
          <p:nvPr/>
        </p:nvSpPr>
        <p:spPr>
          <a:xfrm>
            <a:off x="1463040" y="4041648"/>
            <a:ext cx="4297680" cy="50292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A useful memorization metric</a:t>
            </a:r>
            <a:endParaRPr lang="en-US" sz="1550" dirty="0"/>
          </a:p>
        </p:txBody>
      </p:sp>
      <p:sp>
        <p:nvSpPr>
          <p:cNvPr id="19" name="Text 17"/>
          <p:cNvSpPr/>
          <p:nvPr/>
        </p:nvSpPr>
        <p:spPr>
          <a:xfrm>
            <a:off x="1463040" y="4590288"/>
            <a:ext cx="429768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Char 6-gram overlap saturates near 100% on a huge corpus. We shifted to the train−valid gap, which is the signal that actually distinguishes memorization.</a:t>
            </a:r>
            <a:endParaRPr lang="en-US" sz="1250" dirty="0"/>
          </a:p>
        </p:txBody>
      </p:sp>
      <p:sp>
        <p:nvSpPr>
          <p:cNvPr id="20" name="Shape 18"/>
          <p:cNvSpPr/>
          <p:nvPr/>
        </p:nvSpPr>
        <p:spPr>
          <a:xfrm>
            <a:off x="6199632" y="3767328"/>
            <a:ext cx="5486400" cy="1783080"/>
          </a:xfrm>
          <a:prstGeom prst="roundRect">
            <a:avLst>
              <a:gd name="adj" fmla="val 4103"/>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21" name="Shape 19"/>
          <p:cNvSpPr/>
          <p:nvPr/>
        </p:nvSpPr>
        <p:spPr>
          <a:xfrm>
            <a:off x="6473952" y="4059936"/>
            <a:ext cx="548640" cy="548640"/>
          </a:xfrm>
          <a:prstGeom prst="ellipse">
            <a:avLst/>
          </a:prstGeom>
          <a:solidFill>
            <a:srgbClr val="8E5572"/>
          </a:solidFill>
          <a:ln/>
        </p:spPr>
        <p:txBody>
          <a:bodyPr/>
          <a:lstStyle/>
          <a:p>
            <a:endParaRPr lang="en-US"/>
          </a:p>
        </p:txBody>
      </p:sp>
      <p:sp>
        <p:nvSpPr>
          <p:cNvPr id="22" name="Text 20"/>
          <p:cNvSpPr/>
          <p:nvPr/>
        </p:nvSpPr>
        <p:spPr>
          <a:xfrm>
            <a:off x="6473952" y="4059936"/>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3" name="Text 21"/>
          <p:cNvSpPr/>
          <p:nvPr/>
        </p:nvSpPr>
        <p:spPr>
          <a:xfrm>
            <a:off x="7159752" y="4041648"/>
            <a:ext cx="4297680" cy="50292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Compute budget</a:t>
            </a:r>
            <a:endParaRPr lang="en-US" sz="1550" dirty="0"/>
          </a:p>
        </p:txBody>
      </p:sp>
      <p:sp>
        <p:nvSpPr>
          <p:cNvPr id="24" name="Text 22"/>
          <p:cNvSpPr/>
          <p:nvPr/>
        </p:nvSpPr>
        <p:spPr>
          <a:xfrm>
            <a:off x="7159752" y="4590288"/>
            <a:ext cx="429768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One epoch per model on a single machine; sufficient to reproduce the qualitative trends without the paper's full training run.</a:t>
            </a:r>
            <a:endParaRPr lang="en-US" sz="1250" dirty="0"/>
          </a:p>
        </p:txBody>
      </p:sp>
      <p:sp>
        <p:nvSpPr>
          <p:cNvPr id="25" name="Text 23"/>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26" name="Text 24"/>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8E5572"/>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8E5572"/>
                </a:solidFill>
                <a:latin typeface="Calibri" pitchFamily="34" charset="0"/>
                <a:ea typeface="Calibri" pitchFamily="34" charset="-122"/>
                <a:cs typeface="Calibri" pitchFamily="34" charset="-120"/>
              </a:rPr>
              <a:t>4 · EXTENSION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We built our own modern GPT</a:t>
            </a:r>
            <a:endParaRPr lang="en-US" sz="3000" dirty="0"/>
          </a:p>
        </p:txBody>
      </p:sp>
      <p:sp>
        <p:nvSpPr>
          <p:cNvPr id="5" name="Text 3"/>
          <p:cNvSpPr/>
          <p:nvPr/>
        </p:nvSpPr>
        <p:spPr>
          <a:xfrm>
            <a:off x="502920" y="1645920"/>
            <a:ext cx="6766560" cy="914400"/>
          </a:xfrm>
          <a:prstGeom prst="rect">
            <a:avLst/>
          </a:prstGeom>
          <a:noFill/>
          <a:ln/>
        </p:spPr>
        <p:txBody>
          <a:bodyPr wrap="square" lIns="0" tIns="0" rIns="0" bIns="0" rtlCol="0" anchor="t"/>
          <a:lstStyle/>
          <a:p>
            <a:pPr marL="0" indent="0">
              <a:lnSpc>
                <a:spcPct val="110000"/>
              </a:lnSpc>
              <a:buNone/>
            </a:pPr>
            <a:r>
              <a:rPr lang="en-US" sz="1500" b="1" dirty="0">
                <a:solidFill>
                  <a:srgbClr val="1B2A4A"/>
                </a:solidFill>
                <a:latin typeface="Calibri" pitchFamily="34" charset="0"/>
                <a:ea typeface="Calibri" pitchFamily="34" charset="-122"/>
                <a:cs typeface="Calibri" pitchFamily="34" charset="-120"/>
              </a:rPr>
              <a:t>Rather than reuse nanoGPT, we implemented the whole transformer ourselves</a:t>
            </a:r>
            <a:r>
              <a:rPr lang="en-US" sz="1500" dirty="0">
                <a:solidFill>
                  <a:srgbClr val="24344D"/>
                </a:solidFill>
                <a:latin typeface="Calibri" pitchFamily="34" charset="0"/>
                <a:ea typeface="Calibri" pitchFamily="34" charset="-122"/>
                <a:cs typeface="Calibri" pitchFamily="34" charset="-120"/>
              </a:rPr>
              <a:t> — and the same code is the backbone for all five reproduced models. It pairs two recent ideas for quality and efficiency:</a:t>
            </a:r>
            <a:endParaRPr lang="en-US" sz="1500" dirty="0"/>
          </a:p>
        </p:txBody>
      </p:sp>
      <p:sp>
        <p:nvSpPr>
          <p:cNvPr id="6" name="Shape 4"/>
          <p:cNvSpPr/>
          <p:nvPr/>
        </p:nvSpPr>
        <p:spPr>
          <a:xfrm>
            <a:off x="502920" y="2697480"/>
            <a:ext cx="676656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7" name="Shape 5"/>
          <p:cNvSpPr/>
          <p:nvPr/>
        </p:nvSpPr>
        <p:spPr>
          <a:xfrm>
            <a:off x="713232" y="2944368"/>
            <a:ext cx="146304" cy="146304"/>
          </a:xfrm>
          <a:prstGeom prst="ellipse">
            <a:avLst/>
          </a:prstGeom>
          <a:solidFill>
            <a:srgbClr val="8E5572"/>
          </a:solidFill>
          <a:ln/>
        </p:spPr>
        <p:txBody>
          <a:bodyPr/>
          <a:lstStyle/>
          <a:p>
            <a:endParaRPr lang="en-US"/>
          </a:p>
        </p:txBody>
      </p:sp>
      <p:sp>
        <p:nvSpPr>
          <p:cNvPr id="8" name="Text 6"/>
          <p:cNvSpPr/>
          <p:nvPr/>
        </p:nvSpPr>
        <p:spPr>
          <a:xfrm>
            <a:off x="1005840" y="2816352"/>
            <a:ext cx="612648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Differential Attention</a:t>
            </a:r>
            <a:endParaRPr lang="en-US" sz="1600" dirty="0"/>
          </a:p>
        </p:txBody>
      </p:sp>
      <p:sp>
        <p:nvSpPr>
          <p:cNvPr id="9" name="Text 7"/>
          <p:cNvSpPr/>
          <p:nvPr/>
        </p:nvSpPr>
        <p:spPr>
          <a:xfrm>
            <a:off x="1005840" y="3172968"/>
            <a:ext cx="6035040" cy="54864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Two softmax maps subtracted (λ-weighted) to cancel attention noise and sharpen focus on relevant tokens — the DIFF Transformer idea.</a:t>
            </a:r>
            <a:endParaRPr lang="en-US" sz="1250" dirty="0"/>
          </a:p>
        </p:txBody>
      </p:sp>
      <p:sp>
        <p:nvSpPr>
          <p:cNvPr id="10" name="Shape 8"/>
          <p:cNvSpPr/>
          <p:nvPr/>
        </p:nvSpPr>
        <p:spPr>
          <a:xfrm>
            <a:off x="502920" y="3904488"/>
            <a:ext cx="676656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1" name="Shape 9"/>
          <p:cNvSpPr/>
          <p:nvPr/>
        </p:nvSpPr>
        <p:spPr>
          <a:xfrm>
            <a:off x="713232" y="4151376"/>
            <a:ext cx="146304" cy="146304"/>
          </a:xfrm>
          <a:prstGeom prst="ellipse">
            <a:avLst/>
          </a:prstGeom>
          <a:solidFill>
            <a:srgbClr val="2A9D8F"/>
          </a:solidFill>
          <a:ln/>
        </p:spPr>
        <p:txBody>
          <a:bodyPr/>
          <a:lstStyle/>
          <a:p>
            <a:endParaRPr lang="en-US"/>
          </a:p>
        </p:txBody>
      </p:sp>
      <p:sp>
        <p:nvSpPr>
          <p:cNvPr id="12" name="Text 10"/>
          <p:cNvSpPr/>
          <p:nvPr/>
        </p:nvSpPr>
        <p:spPr>
          <a:xfrm>
            <a:off x="1005840" y="4023360"/>
            <a:ext cx="612648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Grouped-Query Attention</a:t>
            </a:r>
            <a:endParaRPr lang="en-US" sz="1600" dirty="0"/>
          </a:p>
        </p:txBody>
      </p:sp>
      <p:sp>
        <p:nvSpPr>
          <p:cNvPr id="13" name="Text 11"/>
          <p:cNvSpPr/>
          <p:nvPr/>
        </p:nvSpPr>
        <p:spPr>
          <a:xfrm>
            <a:off x="1005840" y="4379976"/>
            <a:ext cx="6035040" cy="54864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Query heads share a smaller set of key/value heads, cutting KV memory &amp; compute for cheaper, faster inference.</a:t>
            </a:r>
            <a:endParaRPr lang="en-US" sz="1250" dirty="0"/>
          </a:p>
        </p:txBody>
      </p:sp>
      <p:sp>
        <p:nvSpPr>
          <p:cNvPr id="14" name="Shape 12"/>
          <p:cNvSpPr/>
          <p:nvPr/>
        </p:nvSpPr>
        <p:spPr>
          <a:xfrm>
            <a:off x="502920" y="5111496"/>
            <a:ext cx="6766560" cy="1097280"/>
          </a:xfrm>
          <a:prstGeom prst="roundRect">
            <a:avLst>
              <a:gd name="adj" fmla="val 6667"/>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15" name="Shape 13"/>
          <p:cNvSpPr/>
          <p:nvPr/>
        </p:nvSpPr>
        <p:spPr>
          <a:xfrm>
            <a:off x="713232" y="5358384"/>
            <a:ext cx="146304" cy="146304"/>
          </a:xfrm>
          <a:prstGeom prst="ellipse">
            <a:avLst/>
          </a:prstGeom>
          <a:solidFill>
            <a:srgbClr val="2A6F97"/>
          </a:solidFill>
          <a:ln/>
        </p:spPr>
        <p:txBody>
          <a:bodyPr/>
          <a:lstStyle/>
          <a:p>
            <a:endParaRPr lang="en-US"/>
          </a:p>
        </p:txBody>
      </p:sp>
      <p:sp>
        <p:nvSpPr>
          <p:cNvPr id="16" name="Text 14"/>
          <p:cNvSpPr/>
          <p:nvPr/>
        </p:nvSpPr>
        <p:spPr>
          <a:xfrm>
            <a:off x="1005840" y="5230368"/>
            <a:ext cx="612648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Modern building blocks</a:t>
            </a:r>
            <a:endParaRPr lang="en-US" sz="1600" dirty="0"/>
          </a:p>
        </p:txBody>
      </p:sp>
      <p:sp>
        <p:nvSpPr>
          <p:cNvPr id="17" name="Text 15"/>
          <p:cNvSpPr/>
          <p:nvPr/>
        </p:nvSpPr>
        <p:spPr>
          <a:xfrm>
            <a:off x="1005840" y="5586984"/>
            <a:ext cx="6035040" cy="54864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RoPE positional encoding · RMSNorm (pre-norm) · SwiGLU feed-forward · weight-tied embedding &amp; LM head.</a:t>
            </a:r>
            <a:endParaRPr lang="en-US" sz="1250" dirty="0"/>
          </a:p>
        </p:txBody>
      </p:sp>
      <p:sp>
        <p:nvSpPr>
          <p:cNvPr id="18" name="Shape 16"/>
          <p:cNvSpPr/>
          <p:nvPr/>
        </p:nvSpPr>
        <p:spPr>
          <a:xfrm>
            <a:off x="7635240" y="1645920"/>
            <a:ext cx="4069080" cy="4480560"/>
          </a:xfrm>
          <a:prstGeom prst="roundRect">
            <a:avLst>
              <a:gd name="adj" fmla="val 1798"/>
            </a:avLst>
          </a:prstGeom>
          <a:solidFill>
            <a:srgbClr val="1B2A4A"/>
          </a:solidFill>
          <a:ln/>
          <a:effectLst>
            <a:outerShdw blurRad="88900" dist="38100" dir="5400000" algn="bl" rotWithShape="0">
              <a:srgbClr val="1B2A4A">
                <a:alpha val="12000"/>
              </a:srgbClr>
            </a:outerShdw>
          </a:effectLst>
        </p:spPr>
        <p:txBody>
          <a:bodyPr/>
          <a:lstStyle/>
          <a:p>
            <a:endParaRPr lang="en-US"/>
          </a:p>
        </p:txBody>
      </p:sp>
      <p:sp>
        <p:nvSpPr>
          <p:cNvPr id="19" name="Text 17"/>
          <p:cNvSpPr/>
          <p:nvPr/>
        </p:nvSpPr>
        <p:spPr>
          <a:xfrm>
            <a:off x="7635240" y="1828800"/>
            <a:ext cx="4069080" cy="320040"/>
          </a:xfrm>
          <a:prstGeom prst="rect">
            <a:avLst/>
          </a:prstGeom>
          <a:noFill/>
          <a:ln/>
        </p:spPr>
        <p:txBody>
          <a:bodyPr wrap="square" lIns="0" tIns="0" rIns="0" bIns="0" rtlCol="0" anchor="ctr"/>
          <a:lstStyle/>
          <a:p>
            <a:pPr marL="0" indent="0" algn="ctr">
              <a:buNone/>
            </a:pPr>
            <a:r>
              <a:rPr lang="en-US" sz="1200" b="1" kern="0" spc="100" dirty="0">
                <a:solidFill>
                  <a:srgbClr val="E8833A"/>
                </a:solidFill>
                <a:latin typeface="Calibri" pitchFamily="34" charset="0"/>
                <a:ea typeface="Calibri" pitchFamily="34" charset="-122"/>
                <a:cs typeface="Calibri" pitchFamily="34" charset="-120"/>
              </a:rPr>
              <a:t>DECODER BLOCK  (×N layers)</a:t>
            </a:r>
            <a:endParaRPr lang="en-US" sz="1200" dirty="0"/>
          </a:p>
        </p:txBody>
      </p:sp>
      <p:sp>
        <p:nvSpPr>
          <p:cNvPr id="20" name="Shape 18"/>
          <p:cNvSpPr/>
          <p:nvPr/>
        </p:nvSpPr>
        <p:spPr>
          <a:xfrm>
            <a:off x="7909560" y="2286000"/>
            <a:ext cx="3520440" cy="384048"/>
          </a:xfrm>
          <a:prstGeom prst="roundRect">
            <a:avLst>
              <a:gd name="adj" fmla="val 11905"/>
            </a:avLst>
          </a:prstGeom>
          <a:solidFill>
            <a:srgbClr val="33507A"/>
          </a:solidFill>
          <a:ln/>
        </p:spPr>
        <p:txBody>
          <a:bodyPr/>
          <a:lstStyle/>
          <a:p>
            <a:endParaRPr lang="en-US"/>
          </a:p>
        </p:txBody>
      </p:sp>
      <p:sp>
        <p:nvSpPr>
          <p:cNvPr id="21" name="Text 19"/>
          <p:cNvSpPr/>
          <p:nvPr/>
        </p:nvSpPr>
        <p:spPr>
          <a:xfrm>
            <a:off x="7955280" y="2286000"/>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Token embedding  (tied)</a:t>
            </a:r>
            <a:endParaRPr lang="en-US" sz="1150" dirty="0"/>
          </a:p>
        </p:txBody>
      </p:sp>
      <p:sp>
        <p:nvSpPr>
          <p:cNvPr id="22" name="Shape 20"/>
          <p:cNvSpPr/>
          <p:nvPr/>
        </p:nvSpPr>
        <p:spPr>
          <a:xfrm>
            <a:off x="7909560" y="2747772"/>
            <a:ext cx="3520440" cy="384048"/>
          </a:xfrm>
          <a:prstGeom prst="roundRect">
            <a:avLst>
              <a:gd name="adj" fmla="val 11905"/>
            </a:avLst>
          </a:prstGeom>
          <a:solidFill>
            <a:srgbClr val="2E4063"/>
          </a:solidFill>
          <a:ln/>
        </p:spPr>
        <p:txBody>
          <a:bodyPr/>
          <a:lstStyle/>
          <a:p>
            <a:endParaRPr lang="en-US"/>
          </a:p>
        </p:txBody>
      </p:sp>
      <p:sp>
        <p:nvSpPr>
          <p:cNvPr id="23" name="Text 21"/>
          <p:cNvSpPr/>
          <p:nvPr/>
        </p:nvSpPr>
        <p:spPr>
          <a:xfrm>
            <a:off x="7955280" y="2747772"/>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RMSNorm</a:t>
            </a:r>
            <a:endParaRPr lang="en-US" sz="1150" dirty="0"/>
          </a:p>
        </p:txBody>
      </p:sp>
      <p:sp>
        <p:nvSpPr>
          <p:cNvPr id="24" name="Shape 22"/>
          <p:cNvSpPr/>
          <p:nvPr/>
        </p:nvSpPr>
        <p:spPr>
          <a:xfrm>
            <a:off x="7909560" y="3209544"/>
            <a:ext cx="3520440" cy="384048"/>
          </a:xfrm>
          <a:prstGeom prst="roundRect">
            <a:avLst>
              <a:gd name="adj" fmla="val 11905"/>
            </a:avLst>
          </a:prstGeom>
          <a:solidFill>
            <a:srgbClr val="8E5572"/>
          </a:solidFill>
          <a:ln/>
        </p:spPr>
        <p:txBody>
          <a:bodyPr/>
          <a:lstStyle/>
          <a:p>
            <a:endParaRPr lang="en-US"/>
          </a:p>
        </p:txBody>
      </p:sp>
      <p:sp>
        <p:nvSpPr>
          <p:cNvPr id="25" name="Text 23"/>
          <p:cNvSpPr/>
          <p:nvPr/>
        </p:nvSpPr>
        <p:spPr>
          <a:xfrm>
            <a:off x="7955280" y="3209544"/>
            <a:ext cx="34290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Differential Attention + GQA + RoPE</a:t>
            </a:r>
            <a:endParaRPr lang="en-US" sz="1150" dirty="0"/>
          </a:p>
        </p:txBody>
      </p:sp>
      <p:sp>
        <p:nvSpPr>
          <p:cNvPr id="26" name="Shape 24"/>
          <p:cNvSpPr/>
          <p:nvPr/>
        </p:nvSpPr>
        <p:spPr>
          <a:xfrm>
            <a:off x="7909560" y="3671316"/>
            <a:ext cx="3520440" cy="384048"/>
          </a:xfrm>
          <a:prstGeom prst="roundRect">
            <a:avLst>
              <a:gd name="adj" fmla="val 11905"/>
            </a:avLst>
          </a:prstGeom>
          <a:solidFill>
            <a:srgbClr val="24344D"/>
          </a:solidFill>
          <a:ln/>
        </p:spPr>
        <p:txBody>
          <a:bodyPr/>
          <a:lstStyle/>
          <a:p>
            <a:endParaRPr lang="en-US"/>
          </a:p>
        </p:txBody>
      </p:sp>
      <p:sp>
        <p:nvSpPr>
          <p:cNvPr id="27" name="Text 25"/>
          <p:cNvSpPr/>
          <p:nvPr/>
        </p:nvSpPr>
        <p:spPr>
          <a:xfrm>
            <a:off x="7955280" y="3671316"/>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  residual</a:t>
            </a:r>
            <a:endParaRPr lang="en-US" sz="1150" dirty="0"/>
          </a:p>
        </p:txBody>
      </p:sp>
      <p:sp>
        <p:nvSpPr>
          <p:cNvPr id="28" name="Shape 26"/>
          <p:cNvSpPr/>
          <p:nvPr/>
        </p:nvSpPr>
        <p:spPr>
          <a:xfrm>
            <a:off x="7909560" y="4133088"/>
            <a:ext cx="3520440" cy="384048"/>
          </a:xfrm>
          <a:prstGeom prst="roundRect">
            <a:avLst>
              <a:gd name="adj" fmla="val 11905"/>
            </a:avLst>
          </a:prstGeom>
          <a:solidFill>
            <a:srgbClr val="2E4063"/>
          </a:solidFill>
          <a:ln/>
        </p:spPr>
        <p:txBody>
          <a:bodyPr/>
          <a:lstStyle/>
          <a:p>
            <a:endParaRPr lang="en-US"/>
          </a:p>
        </p:txBody>
      </p:sp>
      <p:sp>
        <p:nvSpPr>
          <p:cNvPr id="29" name="Text 27"/>
          <p:cNvSpPr/>
          <p:nvPr/>
        </p:nvSpPr>
        <p:spPr>
          <a:xfrm>
            <a:off x="7955280" y="4133088"/>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RMSNorm</a:t>
            </a:r>
            <a:endParaRPr lang="en-US" sz="1150" dirty="0"/>
          </a:p>
        </p:txBody>
      </p:sp>
      <p:sp>
        <p:nvSpPr>
          <p:cNvPr id="30" name="Shape 28"/>
          <p:cNvSpPr/>
          <p:nvPr/>
        </p:nvSpPr>
        <p:spPr>
          <a:xfrm>
            <a:off x="7909560" y="4594860"/>
            <a:ext cx="3520440" cy="384048"/>
          </a:xfrm>
          <a:prstGeom prst="roundRect">
            <a:avLst>
              <a:gd name="adj" fmla="val 11905"/>
            </a:avLst>
          </a:prstGeom>
          <a:solidFill>
            <a:srgbClr val="2A9D8F"/>
          </a:solidFill>
          <a:ln/>
        </p:spPr>
        <p:txBody>
          <a:bodyPr/>
          <a:lstStyle/>
          <a:p>
            <a:endParaRPr lang="en-US"/>
          </a:p>
        </p:txBody>
      </p:sp>
      <p:sp>
        <p:nvSpPr>
          <p:cNvPr id="31" name="Text 29"/>
          <p:cNvSpPr/>
          <p:nvPr/>
        </p:nvSpPr>
        <p:spPr>
          <a:xfrm>
            <a:off x="7955280" y="4594860"/>
            <a:ext cx="34290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SwiGLU feed-forward</a:t>
            </a:r>
            <a:endParaRPr lang="en-US" sz="1150" dirty="0"/>
          </a:p>
        </p:txBody>
      </p:sp>
      <p:sp>
        <p:nvSpPr>
          <p:cNvPr id="32" name="Shape 30"/>
          <p:cNvSpPr/>
          <p:nvPr/>
        </p:nvSpPr>
        <p:spPr>
          <a:xfrm>
            <a:off x="7909560" y="5056632"/>
            <a:ext cx="3520440" cy="384048"/>
          </a:xfrm>
          <a:prstGeom prst="roundRect">
            <a:avLst>
              <a:gd name="adj" fmla="val 11905"/>
            </a:avLst>
          </a:prstGeom>
          <a:solidFill>
            <a:srgbClr val="24344D"/>
          </a:solidFill>
          <a:ln/>
        </p:spPr>
        <p:txBody>
          <a:bodyPr/>
          <a:lstStyle/>
          <a:p>
            <a:endParaRPr lang="en-US"/>
          </a:p>
        </p:txBody>
      </p:sp>
      <p:sp>
        <p:nvSpPr>
          <p:cNvPr id="33" name="Text 31"/>
          <p:cNvSpPr/>
          <p:nvPr/>
        </p:nvSpPr>
        <p:spPr>
          <a:xfrm>
            <a:off x="7955280" y="5056632"/>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  residual</a:t>
            </a:r>
            <a:endParaRPr lang="en-US" sz="1150" dirty="0"/>
          </a:p>
        </p:txBody>
      </p:sp>
      <p:sp>
        <p:nvSpPr>
          <p:cNvPr id="34" name="Shape 32"/>
          <p:cNvSpPr/>
          <p:nvPr/>
        </p:nvSpPr>
        <p:spPr>
          <a:xfrm>
            <a:off x="7909560" y="5518404"/>
            <a:ext cx="3520440" cy="384048"/>
          </a:xfrm>
          <a:prstGeom prst="roundRect">
            <a:avLst>
              <a:gd name="adj" fmla="val 11905"/>
            </a:avLst>
          </a:prstGeom>
          <a:solidFill>
            <a:srgbClr val="33507A"/>
          </a:solidFill>
          <a:ln/>
        </p:spPr>
        <p:txBody>
          <a:bodyPr/>
          <a:lstStyle/>
          <a:p>
            <a:endParaRPr lang="en-US"/>
          </a:p>
        </p:txBody>
      </p:sp>
      <p:sp>
        <p:nvSpPr>
          <p:cNvPr id="35" name="Text 33"/>
          <p:cNvSpPr/>
          <p:nvPr/>
        </p:nvSpPr>
        <p:spPr>
          <a:xfrm>
            <a:off x="7955280" y="5518404"/>
            <a:ext cx="3429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LM head  (weight-tied)</a:t>
            </a:r>
            <a:endParaRPr lang="en-US" sz="1150" dirty="0"/>
          </a:p>
        </p:txBody>
      </p:sp>
      <p:sp>
        <p:nvSpPr>
          <p:cNvPr id="36" name="Text 34"/>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37" name="Text 35"/>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64592" cy="384048"/>
          </a:xfrm>
          <a:prstGeom prst="roundRect">
            <a:avLst>
              <a:gd name="adj" fmla="val 33333"/>
            </a:avLst>
          </a:prstGeom>
          <a:solidFill>
            <a:srgbClr val="8E5572"/>
          </a:solidFill>
          <a:ln/>
        </p:spPr>
        <p:txBody>
          <a:bodyPr/>
          <a:lstStyle/>
          <a:p>
            <a:endParaRPr lang="en-US"/>
          </a:p>
        </p:txBody>
      </p:sp>
      <p:sp>
        <p:nvSpPr>
          <p:cNvPr id="3" name="Text 1"/>
          <p:cNvSpPr/>
          <p:nvPr/>
        </p:nvSpPr>
        <p:spPr>
          <a:xfrm>
            <a:off x="777240" y="457200"/>
            <a:ext cx="5486400" cy="384048"/>
          </a:xfrm>
          <a:prstGeom prst="rect">
            <a:avLst/>
          </a:prstGeom>
          <a:noFill/>
          <a:ln/>
        </p:spPr>
        <p:txBody>
          <a:bodyPr wrap="square" lIns="0" tIns="0" rIns="0" bIns="0" rtlCol="0" anchor="ctr"/>
          <a:lstStyle/>
          <a:p>
            <a:pPr marL="0" indent="0" algn="l">
              <a:buNone/>
            </a:pPr>
            <a:r>
              <a:rPr lang="en-US" sz="1200" b="1" kern="0" spc="200" dirty="0">
                <a:solidFill>
                  <a:srgbClr val="8E5572"/>
                </a:solidFill>
                <a:latin typeface="Calibri" pitchFamily="34" charset="0"/>
                <a:ea typeface="Calibri" pitchFamily="34" charset="-122"/>
                <a:cs typeface="Calibri" pitchFamily="34" charset="-120"/>
              </a:rPr>
              <a:t>4 · EXTENSION</a:t>
            </a:r>
            <a:endParaRPr lang="en-US" sz="1200" dirty="0"/>
          </a:p>
        </p:txBody>
      </p:sp>
      <p:sp>
        <p:nvSpPr>
          <p:cNvPr id="4" name="Text 2"/>
          <p:cNvSpPr/>
          <p:nvPr/>
        </p:nvSpPr>
        <p:spPr>
          <a:xfrm>
            <a:off x="502920" y="841248"/>
            <a:ext cx="11155680" cy="777240"/>
          </a:xfrm>
          <a:prstGeom prst="rect">
            <a:avLst/>
          </a:prstGeom>
          <a:noFill/>
          <a:ln/>
        </p:spPr>
        <p:txBody>
          <a:bodyPr wrap="square" lIns="0" tIns="0" rIns="0" bIns="0"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Motivation &amp; outcome</a:t>
            </a:r>
            <a:endParaRPr lang="en-US" sz="3000" dirty="0"/>
          </a:p>
        </p:txBody>
      </p:sp>
      <p:sp>
        <p:nvSpPr>
          <p:cNvPr id="5" name="Text 3"/>
          <p:cNvSpPr/>
          <p:nvPr/>
        </p:nvSpPr>
        <p:spPr>
          <a:xfrm>
            <a:off x="502920" y="1691640"/>
            <a:ext cx="5486400" cy="274320"/>
          </a:xfrm>
          <a:prstGeom prst="rect">
            <a:avLst/>
          </a:prstGeom>
          <a:noFill/>
          <a:ln/>
        </p:spPr>
        <p:txBody>
          <a:bodyPr wrap="square" lIns="0" tIns="0" rIns="0" bIns="0" rtlCol="0" anchor="ctr"/>
          <a:lstStyle/>
          <a:p>
            <a:pPr marL="0" indent="0">
              <a:buNone/>
            </a:pPr>
            <a:r>
              <a:rPr lang="en-US" sz="1200" b="1" kern="0" spc="100" dirty="0">
                <a:solidFill>
                  <a:srgbClr val="8E5572"/>
                </a:solidFill>
                <a:latin typeface="Calibri" pitchFamily="34" charset="0"/>
                <a:ea typeface="Calibri" pitchFamily="34" charset="-122"/>
                <a:cs typeface="Calibri" pitchFamily="34" charset="-120"/>
              </a:rPr>
              <a:t>WHY BUILD IT OURSELVES</a:t>
            </a:r>
            <a:endParaRPr lang="en-US" sz="1200" dirty="0"/>
          </a:p>
        </p:txBody>
      </p:sp>
      <p:sp>
        <p:nvSpPr>
          <p:cNvPr id="6" name="Text 4"/>
          <p:cNvSpPr/>
          <p:nvPr/>
        </p:nvSpPr>
        <p:spPr>
          <a:xfrm>
            <a:off x="502920" y="2057400"/>
            <a:ext cx="5577840" cy="3931920"/>
          </a:xfrm>
          <a:prstGeom prst="rect">
            <a:avLst/>
          </a:prstGeom>
          <a:noFill/>
          <a:ln/>
        </p:spPr>
        <p:txBody>
          <a:bodyPr wrap="square" lIns="0" tIns="0" rIns="0" bIns="0" rtlCol="0" anchor="t"/>
          <a:lstStyle/>
          <a:p>
            <a:pPr marL="0" indent="0">
              <a:lnSpc>
                <a:spcPct val="108000"/>
              </a:lnSpc>
              <a:buNone/>
            </a:pPr>
            <a:r>
              <a:rPr lang="en-US" sz="1400" b="1" dirty="0">
                <a:solidFill>
                  <a:srgbClr val="1B2A4A"/>
                </a:solidFill>
                <a:latin typeface="Calibri" pitchFamily="34" charset="0"/>
                <a:ea typeface="Calibri" pitchFamily="34" charset="-122"/>
                <a:cs typeface="Calibri" pitchFamily="34" charset="-120"/>
              </a:rPr>
              <a:t>Deeper understanding — </a:t>
            </a:r>
            <a:r>
              <a:rPr lang="en-US" sz="1400" dirty="0">
                <a:solidFill>
                  <a:srgbClr val="24344D"/>
                </a:solidFill>
                <a:latin typeface="Calibri" pitchFamily="34" charset="0"/>
                <a:ea typeface="Calibri" pitchFamily="34" charset="-122"/>
                <a:cs typeface="Calibri" pitchFamily="34" charset="-120"/>
              </a:rPr>
              <a:t>implementing attention, RoPE and normalization end-to-end forces real understanding of the architecture the paper takes for granted.</a:t>
            </a:r>
            <a:endParaRPr lang="en-US" sz="1400" dirty="0"/>
          </a:p>
          <a:p>
            <a:pPr marL="0" indent="0">
              <a:lnSpc>
                <a:spcPct val="108000"/>
              </a:lnSpc>
              <a:buNone/>
            </a:pPr>
            <a:r>
              <a:rPr lang="en-US" sz="1400" b="1" dirty="0">
                <a:solidFill>
                  <a:srgbClr val="1B2A4A"/>
                </a:solidFill>
                <a:latin typeface="Calibri" pitchFamily="34" charset="0"/>
                <a:ea typeface="Calibri" pitchFamily="34" charset="-122"/>
                <a:cs typeface="Calibri" pitchFamily="34" charset="-120"/>
              </a:rPr>
              <a:t>A stronger reproduction — </a:t>
            </a:r>
            <a:r>
              <a:rPr lang="en-US" sz="1400" dirty="0">
                <a:solidFill>
                  <a:srgbClr val="24344D"/>
                </a:solidFill>
                <a:latin typeface="Calibri" pitchFamily="34" charset="0"/>
                <a:ea typeface="Calibri" pitchFamily="34" charset="-122"/>
                <a:cs typeface="Calibri" pitchFamily="34" charset="-120"/>
              </a:rPr>
              <a:t>TinyStories used a vanilla GPT; we test whether the same conclusions hold on a more modern backbone.</a:t>
            </a:r>
            <a:endParaRPr lang="en-US" sz="1400" dirty="0"/>
          </a:p>
          <a:p>
            <a:pPr marL="0" indent="0">
              <a:lnSpc>
                <a:spcPct val="108000"/>
              </a:lnSpc>
              <a:buNone/>
            </a:pPr>
            <a:r>
              <a:rPr lang="en-US" sz="1400" b="1" dirty="0">
                <a:solidFill>
                  <a:srgbClr val="1B2A4A"/>
                </a:solidFill>
                <a:latin typeface="Calibri" pitchFamily="34" charset="0"/>
                <a:ea typeface="Calibri" pitchFamily="34" charset="-122"/>
                <a:cs typeface="Calibri" pitchFamily="34" charset="-120"/>
              </a:rPr>
              <a:t>Efficiency — </a:t>
            </a:r>
            <a:r>
              <a:rPr lang="en-US" sz="1400" dirty="0">
                <a:solidFill>
                  <a:srgbClr val="24344D"/>
                </a:solidFill>
                <a:latin typeface="Calibri" pitchFamily="34" charset="0"/>
                <a:ea typeface="Calibri" pitchFamily="34" charset="-122"/>
                <a:cs typeface="Calibri" pitchFamily="34" charset="-120"/>
              </a:rPr>
              <a:t>GQA shrinks the KV cache and Differential Attention improves the signal-to-noise of attention, both attractive at the tiny-model scale.</a:t>
            </a:r>
            <a:endParaRPr lang="en-US" sz="1400" dirty="0"/>
          </a:p>
        </p:txBody>
      </p:sp>
      <p:sp>
        <p:nvSpPr>
          <p:cNvPr id="7" name="Shape 5"/>
          <p:cNvSpPr/>
          <p:nvPr/>
        </p:nvSpPr>
        <p:spPr>
          <a:xfrm>
            <a:off x="6400800" y="1783080"/>
            <a:ext cx="5303520" cy="4343400"/>
          </a:xfrm>
          <a:prstGeom prst="roundRect">
            <a:avLst>
              <a:gd name="adj" fmla="val 1684"/>
            </a:avLst>
          </a:prstGeom>
          <a:solidFill>
            <a:srgbClr val="F4F7FB"/>
          </a:solidFill>
          <a:ln/>
          <a:effectLst>
            <a:outerShdw blurRad="88900" dist="38100" dir="5400000" algn="bl" rotWithShape="0">
              <a:srgbClr val="1B2A4A">
                <a:alpha val="12000"/>
              </a:srgbClr>
            </a:outerShdw>
          </a:effectLst>
        </p:spPr>
        <p:txBody>
          <a:bodyPr/>
          <a:lstStyle/>
          <a:p>
            <a:endParaRPr lang="en-US"/>
          </a:p>
        </p:txBody>
      </p:sp>
      <p:sp>
        <p:nvSpPr>
          <p:cNvPr id="8" name="Text 6"/>
          <p:cNvSpPr/>
          <p:nvPr/>
        </p:nvSpPr>
        <p:spPr>
          <a:xfrm>
            <a:off x="6675120" y="1965960"/>
            <a:ext cx="4572000" cy="274320"/>
          </a:xfrm>
          <a:prstGeom prst="rect">
            <a:avLst/>
          </a:prstGeom>
          <a:noFill/>
          <a:ln/>
        </p:spPr>
        <p:txBody>
          <a:bodyPr wrap="square" lIns="0" tIns="0" rIns="0" bIns="0" rtlCol="0" anchor="ctr"/>
          <a:lstStyle/>
          <a:p>
            <a:pPr marL="0" indent="0">
              <a:buNone/>
            </a:pPr>
            <a:r>
              <a:rPr lang="en-US" sz="1200" b="1" kern="0" spc="150" dirty="0">
                <a:solidFill>
                  <a:srgbClr val="2A9D8F"/>
                </a:solidFill>
                <a:latin typeface="Calibri" pitchFamily="34" charset="0"/>
                <a:ea typeface="Calibri" pitchFamily="34" charset="-122"/>
                <a:cs typeface="Calibri" pitchFamily="34" charset="-120"/>
              </a:rPr>
              <a:t>OUTCOME</a:t>
            </a:r>
            <a:endParaRPr lang="en-US" sz="1200" dirty="0"/>
          </a:p>
        </p:txBody>
      </p:sp>
      <p:sp>
        <p:nvSpPr>
          <p:cNvPr id="9" name="Text 7"/>
          <p:cNvSpPr/>
          <p:nvPr/>
        </p:nvSpPr>
        <p:spPr>
          <a:xfrm>
            <a:off x="6675120" y="2286000"/>
            <a:ext cx="4754880" cy="777240"/>
          </a:xfrm>
          <a:prstGeom prst="rect">
            <a:avLst/>
          </a:prstGeom>
          <a:noFill/>
          <a:ln/>
        </p:spPr>
        <p:txBody>
          <a:bodyPr wrap="square" lIns="0" tIns="0" rIns="0" bIns="0" rtlCol="0" anchor="t"/>
          <a:lstStyle/>
          <a:p>
            <a:pPr marL="0" indent="0">
              <a:buNone/>
            </a:pPr>
            <a:r>
              <a:rPr lang="en-US" sz="1800" b="1" dirty="0">
                <a:solidFill>
                  <a:srgbClr val="1B2A4A"/>
                </a:solidFill>
                <a:latin typeface="Cambria" pitchFamily="34" charset="0"/>
                <a:ea typeface="Cambria" pitchFamily="34" charset="-122"/>
                <a:cs typeface="Cambria" pitchFamily="34" charset="-120"/>
              </a:rPr>
              <a:t>The paper's conclusions hold on a modern architecture</a:t>
            </a:r>
            <a:endParaRPr lang="en-US" sz="1800" dirty="0"/>
          </a:p>
        </p:txBody>
      </p:sp>
      <p:sp>
        <p:nvSpPr>
          <p:cNvPr id="10" name="Shape 8"/>
          <p:cNvSpPr/>
          <p:nvPr/>
        </p:nvSpPr>
        <p:spPr>
          <a:xfrm>
            <a:off x="6675120" y="3200400"/>
            <a:ext cx="292608" cy="292608"/>
          </a:xfrm>
          <a:prstGeom prst="ellipse">
            <a:avLst/>
          </a:prstGeom>
          <a:solidFill>
            <a:srgbClr val="2A9D8F"/>
          </a:solidFill>
          <a:ln/>
        </p:spPr>
        <p:txBody>
          <a:bodyPr/>
          <a:lstStyle/>
          <a:p>
            <a:endParaRPr lang="en-US"/>
          </a:p>
        </p:txBody>
      </p:sp>
      <p:sp>
        <p:nvSpPr>
          <p:cNvPr id="11" name="Text 9"/>
          <p:cNvSpPr/>
          <p:nvPr/>
        </p:nvSpPr>
        <p:spPr>
          <a:xfrm>
            <a:off x="6675120" y="320040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086600" y="3136392"/>
            <a:ext cx="438912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All three claims reproduced</a:t>
            </a:r>
            <a:endParaRPr lang="en-US" sz="1450" dirty="0"/>
          </a:p>
        </p:txBody>
      </p:sp>
      <p:sp>
        <p:nvSpPr>
          <p:cNvPr id="13" name="Text 11"/>
          <p:cNvSpPr/>
          <p:nvPr/>
        </p:nvSpPr>
        <p:spPr>
          <a:xfrm>
            <a:off x="7086600" y="3483864"/>
            <a:ext cx="443484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Scaling, grammar-first emergence and no-memorization all appear with Diff-Transformer + GQA.</a:t>
            </a:r>
            <a:endParaRPr lang="en-US" sz="1200" dirty="0"/>
          </a:p>
        </p:txBody>
      </p:sp>
      <p:sp>
        <p:nvSpPr>
          <p:cNvPr id="14" name="Shape 12"/>
          <p:cNvSpPr/>
          <p:nvPr/>
        </p:nvSpPr>
        <p:spPr>
          <a:xfrm>
            <a:off x="6675120" y="4178808"/>
            <a:ext cx="292608" cy="292608"/>
          </a:xfrm>
          <a:prstGeom prst="ellipse">
            <a:avLst/>
          </a:prstGeom>
          <a:solidFill>
            <a:srgbClr val="2A6F97"/>
          </a:solidFill>
          <a:ln/>
        </p:spPr>
        <p:txBody>
          <a:bodyPr/>
          <a:lstStyle/>
          <a:p>
            <a:endParaRPr lang="en-US"/>
          </a:p>
        </p:txBody>
      </p:sp>
      <p:sp>
        <p:nvSpPr>
          <p:cNvPr id="15" name="Text 13"/>
          <p:cNvSpPr/>
          <p:nvPr/>
        </p:nvSpPr>
        <p:spPr>
          <a:xfrm>
            <a:off x="6675120" y="417880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7086600" y="4114800"/>
            <a:ext cx="438912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Clean training</a:t>
            </a:r>
            <a:endParaRPr lang="en-US" sz="1450" dirty="0"/>
          </a:p>
        </p:txBody>
      </p:sp>
      <p:sp>
        <p:nvSpPr>
          <p:cNvPr id="17" name="Text 15"/>
          <p:cNvSpPr/>
          <p:nvPr/>
        </p:nvSpPr>
        <p:spPr>
          <a:xfrm>
            <a:off x="7086600" y="4462272"/>
            <a:ext cx="443484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Stable single-epoch convergence across 1M–56M with weight tying and pre-norm RMSNorm.</a:t>
            </a:r>
            <a:endParaRPr lang="en-US" sz="1200" dirty="0"/>
          </a:p>
        </p:txBody>
      </p:sp>
      <p:sp>
        <p:nvSpPr>
          <p:cNvPr id="18" name="Shape 16"/>
          <p:cNvSpPr/>
          <p:nvPr/>
        </p:nvSpPr>
        <p:spPr>
          <a:xfrm>
            <a:off x="6675120" y="5157216"/>
            <a:ext cx="292608" cy="292608"/>
          </a:xfrm>
          <a:prstGeom prst="ellipse">
            <a:avLst/>
          </a:prstGeom>
          <a:solidFill>
            <a:srgbClr val="E8833A"/>
          </a:solidFill>
          <a:ln/>
        </p:spPr>
        <p:txBody>
          <a:bodyPr/>
          <a:lstStyle/>
          <a:p>
            <a:endParaRPr lang="en-US"/>
          </a:p>
        </p:txBody>
      </p:sp>
      <p:sp>
        <p:nvSpPr>
          <p:cNvPr id="19" name="Text 17"/>
          <p:cNvSpPr/>
          <p:nvPr/>
        </p:nvSpPr>
        <p:spPr>
          <a:xfrm>
            <a:off x="6675120" y="5157216"/>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7086600" y="5093208"/>
            <a:ext cx="438912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Efficiency by design</a:t>
            </a:r>
            <a:endParaRPr lang="en-US" sz="1450" dirty="0"/>
          </a:p>
        </p:txBody>
      </p:sp>
      <p:sp>
        <p:nvSpPr>
          <p:cNvPr id="21" name="Text 19"/>
          <p:cNvSpPr/>
          <p:nvPr/>
        </p:nvSpPr>
        <p:spPr>
          <a:xfrm>
            <a:off x="7086600" y="5440680"/>
            <a:ext cx="443484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GQA halves KV heads (n_kv = n_heads / 2) with no loss of story quality at this scale.</a:t>
            </a:r>
            <a:endParaRPr lang="en-US" sz="1200" dirty="0"/>
          </a:p>
        </p:txBody>
      </p:sp>
      <p:sp>
        <p:nvSpPr>
          <p:cNvPr id="22" name="Text 2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Reproducing TinyStories  ·  DLNLP Reproducibility &amp; Extension Challenge</a:t>
            </a:r>
            <a:endParaRPr lang="en-US" sz="900" dirty="0"/>
          </a:p>
        </p:txBody>
      </p:sp>
      <p:sp>
        <p:nvSpPr>
          <p:cNvPr id="23" name="Text 21"/>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371600"/>
            <a:ext cx="3657600" cy="3657600"/>
          </a:xfrm>
          <a:prstGeom prst="ellipse">
            <a:avLst/>
          </a:prstGeom>
          <a:solidFill>
            <a:srgbClr val="24355A"/>
          </a:solidFill>
          <a:ln/>
        </p:spPr>
        <p:txBody>
          <a:bodyPr/>
          <a:lstStyle/>
          <a:p>
            <a:endParaRPr lang="en-US"/>
          </a:p>
        </p:txBody>
      </p:sp>
      <p:sp>
        <p:nvSpPr>
          <p:cNvPr id="3" name="Shape 1"/>
          <p:cNvSpPr/>
          <p:nvPr/>
        </p:nvSpPr>
        <p:spPr>
          <a:xfrm>
            <a:off x="502920" y="457200"/>
            <a:ext cx="164592" cy="384048"/>
          </a:xfrm>
          <a:prstGeom prst="roundRect">
            <a:avLst>
              <a:gd name="adj" fmla="val 33333"/>
            </a:avLst>
          </a:prstGeom>
          <a:solidFill>
            <a:srgbClr val="E8833A"/>
          </a:solidFill>
          <a:ln/>
        </p:spPr>
        <p:txBody>
          <a:bodyPr/>
          <a:lstStyle/>
          <a:p>
            <a:endParaRPr lang="en-US"/>
          </a:p>
        </p:txBody>
      </p:sp>
      <p:sp>
        <p:nvSpPr>
          <p:cNvPr id="4" name="Text 2"/>
          <p:cNvSpPr/>
          <p:nvPr/>
        </p:nvSpPr>
        <p:spPr>
          <a:xfrm>
            <a:off x="777240" y="457200"/>
            <a:ext cx="7315200" cy="384048"/>
          </a:xfrm>
          <a:prstGeom prst="rect">
            <a:avLst/>
          </a:prstGeom>
          <a:noFill/>
          <a:ln/>
        </p:spPr>
        <p:txBody>
          <a:bodyPr wrap="square" lIns="0" tIns="0" rIns="0" bIns="0"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5 · CONCLUSION</a:t>
            </a:r>
            <a:endParaRPr lang="en-US" sz="1200" dirty="0"/>
          </a:p>
        </p:txBody>
      </p:sp>
      <p:sp>
        <p:nvSpPr>
          <p:cNvPr id="5" name="Text 3"/>
          <p:cNvSpPr/>
          <p:nvPr/>
        </p:nvSpPr>
        <p:spPr>
          <a:xfrm>
            <a:off x="502920" y="841248"/>
            <a:ext cx="109728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Findings &amp; reproducibility verdict</a:t>
            </a:r>
            <a:endParaRPr lang="en-US" sz="3000" dirty="0"/>
          </a:p>
        </p:txBody>
      </p:sp>
      <p:sp>
        <p:nvSpPr>
          <p:cNvPr id="6" name="Shape 4"/>
          <p:cNvSpPr/>
          <p:nvPr/>
        </p:nvSpPr>
        <p:spPr>
          <a:xfrm>
            <a:off x="502920" y="1828800"/>
            <a:ext cx="3520440" cy="1508760"/>
          </a:xfrm>
          <a:prstGeom prst="roundRect">
            <a:avLst>
              <a:gd name="adj" fmla="val 4848"/>
            </a:avLst>
          </a:prstGeom>
          <a:solidFill>
            <a:srgbClr val="24355A"/>
          </a:solidFill>
          <a:ln/>
        </p:spPr>
        <p:txBody>
          <a:bodyPr/>
          <a:lstStyle/>
          <a:p>
            <a:endParaRPr lang="en-US"/>
          </a:p>
        </p:txBody>
      </p:sp>
      <p:sp>
        <p:nvSpPr>
          <p:cNvPr id="7" name="Text 5"/>
          <p:cNvSpPr/>
          <p:nvPr/>
        </p:nvSpPr>
        <p:spPr>
          <a:xfrm>
            <a:off x="731520" y="2011680"/>
            <a:ext cx="310896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 C1  Scale → coherence</a:t>
            </a:r>
            <a:endParaRPr lang="en-US" sz="1600" dirty="0"/>
          </a:p>
        </p:txBody>
      </p:sp>
      <p:sp>
        <p:nvSpPr>
          <p:cNvPr id="8" name="Text 6"/>
          <p:cNvSpPr/>
          <p:nvPr/>
        </p:nvSpPr>
        <p:spPr>
          <a:xfrm>
            <a:off x="731520" y="2514600"/>
            <a:ext cx="3154680" cy="73152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Consistency 4.1 → 7.6 across XS→XL</a:t>
            </a:r>
            <a:endParaRPr lang="en-US" sz="1250" dirty="0"/>
          </a:p>
        </p:txBody>
      </p:sp>
      <p:sp>
        <p:nvSpPr>
          <p:cNvPr id="9" name="Shape 7"/>
          <p:cNvSpPr/>
          <p:nvPr/>
        </p:nvSpPr>
        <p:spPr>
          <a:xfrm>
            <a:off x="4233672" y="1828800"/>
            <a:ext cx="3520440" cy="1508760"/>
          </a:xfrm>
          <a:prstGeom prst="roundRect">
            <a:avLst>
              <a:gd name="adj" fmla="val 4848"/>
            </a:avLst>
          </a:prstGeom>
          <a:solidFill>
            <a:srgbClr val="24355A"/>
          </a:solidFill>
          <a:ln/>
        </p:spPr>
        <p:txBody>
          <a:bodyPr/>
          <a:lstStyle/>
          <a:p>
            <a:endParaRPr lang="en-US"/>
          </a:p>
        </p:txBody>
      </p:sp>
      <p:sp>
        <p:nvSpPr>
          <p:cNvPr id="10" name="Text 8"/>
          <p:cNvSpPr/>
          <p:nvPr/>
        </p:nvSpPr>
        <p:spPr>
          <a:xfrm>
            <a:off x="4462272" y="2011680"/>
            <a:ext cx="310896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 C2  Grammar first</a:t>
            </a:r>
            <a:endParaRPr lang="en-US" sz="1600" dirty="0"/>
          </a:p>
        </p:txBody>
      </p:sp>
      <p:sp>
        <p:nvSpPr>
          <p:cNvPr id="11" name="Text 9"/>
          <p:cNvSpPr/>
          <p:nvPr/>
        </p:nvSpPr>
        <p:spPr>
          <a:xfrm>
            <a:off x="4462272" y="2514600"/>
            <a:ext cx="3154680" cy="73152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Grammar−plot gap shrinks 7× with size</a:t>
            </a:r>
            <a:endParaRPr lang="en-US" sz="1250" dirty="0"/>
          </a:p>
        </p:txBody>
      </p:sp>
      <p:sp>
        <p:nvSpPr>
          <p:cNvPr id="12" name="Shape 10"/>
          <p:cNvSpPr/>
          <p:nvPr/>
        </p:nvSpPr>
        <p:spPr>
          <a:xfrm>
            <a:off x="7964424" y="1828800"/>
            <a:ext cx="3520440" cy="1508760"/>
          </a:xfrm>
          <a:prstGeom prst="roundRect">
            <a:avLst>
              <a:gd name="adj" fmla="val 4848"/>
            </a:avLst>
          </a:prstGeom>
          <a:solidFill>
            <a:srgbClr val="24355A"/>
          </a:solidFill>
          <a:ln/>
        </p:spPr>
        <p:txBody>
          <a:bodyPr/>
          <a:lstStyle/>
          <a:p>
            <a:endParaRPr lang="en-US"/>
          </a:p>
        </p:txBody>
      </p:sp>
      <p:sp>
        <p:nvSpPr>
          <p:cNvPr id="13" name="Text 11"/>
          <p:cNvSpPr/>
          <p:nvPr/>
        </p:nvSpPr>
        <p:spPr>
          <a:xfrm>
            <a:off x="8193024" y="2011680"/>
            <a:ext cx="310896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 C3  Not memorized</a:t>
            </a:r>
            <a:endParaRPr lang="en-US" sz="1600" dirty="0"/>
          </a:p>
        </p:txBody>
      </p:sp>
      <p:sp>
        <p:nvSpPr>
          <p:cNvPr id="14" name="Text 12"/>
          <p:cNvSpPr/>
          <p:nvPr/>
        </p:nvSpPr>
        <p:spPr>
          <a:xfrm>
            <a:off x="8193024" y="2514600"/>
            <a:ext cx="3154680" cy="73152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Train−valid overlap gap &lt; 0.5 pp</a:t>
            </a:r>
            <a:endParaRPr lang="en-US" sz="1250" dirty="0"/>
          </a:p>
        </p:txBody>
      </p:sp>
      <p:sp>
        <p:nvSpPr>
          <p:cNvPr id="15" name="Text 13"/>
          <p:cNvSpPr/>
          <p:nvPr/>
        </p:nvSpPr>
        <p:spPr>
          <a:xfrm>
            <a:off x="502920" y="3657600"/>
            <a:ext cx="11155680" cy="914400"/>
          </a:xfrm>
          <a:prstGeom prst="rect">
            <a:avLst/>
          </a:prstGeom>
          <a:noFill/>
          <a:ln/>
        </p:spPr>
        <p:txBody>
          <a:bodyPr wrap="square" lIns="0" tIns="0" rIns="0" bIns="0" rtlCol="0" anchor="t"/>
          <a:lstStyle/>
          <a:p>
            <a:pPr marL="0" indent="0">
              <a:lnSpc>
                <a:spcPct val="110000"/>
              </a:lnSpc>
              <a:buNone/>
            </a:pPr>
            <a:r>
              <a:rPr lang="en-US" sz="1600" b="1" dirty="0">
                <a:solidFill>
                  <a:srgbClr val="E8833A"/>
                </a:solidFill>
                <a:latin typeface="Calibri" pitchFamily="34" charset="0"/>
                <a:ea typeface="Calibri" pitchFamily="34" charset="-122"/>
                <a:cs typeface="Calibri" pitchFamily="34" charset="-120"/>
              </a:rPr>
              <a:t>Verdict:  </a:t>
            </a:r>
            <a:r>
              <a:rPr lang="en-US" sz="1600" b="1" dirty="0">
                <a:solidFill>
                  <a:srgbClr val="FFFFFF"/>
                </a:solidFill>
                <a:latin typeface="Calibri" pitchFamily="34" charset="0"/>
                <a:ea typeface="Calibri" pitchFamily="34" charset="-122"/>
                <a:cs typeface="Calibri" pitchFamily="34" charset="-120"/>
              </a:rPr>
              <a:t>TinyStories reproduces cleanly. </a:t>
            </a:r>
            <a:r>
              <a:rPr lang="en-US" sz="1600" dirty="0">
                <a:solidFill>
                  <a:srgbClr val="CADCFC"/>
                </a:solidFill>
                <a:latin typeface="Calibri" pitchFamily="34" charset="0"/>
                <a:ea typeface="Calibri" pitchFamily="34" charset="-122"/>
                <a:cs typeface="Calibri" pitchFamily="34" charset="-120"/>
              </a:rPr>
              <a:t>All three target claims hold — and they survive being ported onto a Differential-Transformer + GQA backbone we built from scratch.</a:t>
            </a:r>
            <a:endParaRPr lang="en-US" sz="1600" dirty="0"/>
          </a:p>
        </p:txBody>
      </p:sp>
      <p:sp>
        <p:nvSpPr>
          <p:cNvPr id="16" name="Text 14"/>
          <p:cNvSpPr/>
          <p:nvPr/>
        </p:nvSpPr>
        <p:spPr>
          <a:xfrm>
            <a:off x="502920" y="4709160"/>
            <a:ext cx="5486400" cy="274320"/>
          </a:xfrm>
          <a:prstGeom prst="rect">
            <a:avLst/>
          </a:prstGeom>
          <a:noFill/>
          <a:ln/>
        </p:spPr>
        <p:txBody>
          <a:bodyPr wrap="square" lIns="0" tIns="0" rIns="0" bIns="0" rtlCol="0" anchor="ctr"/>
          <a:lstStyle/>
          <a:p>
            <a:pPr marL="0" indent="0">
              <a:buNone/>
            </a:pPr>
            <a:r>
              <a:rPr lang="en-US" sz="1200" b="1" kern="0" spc="150" dirty="0">
                <a:solidFill>
                  <a:srgbClr val="E8833A"/>
                </a:solidFill>
                <a:latin typeface="Calibri" pitchFamily="34" charset="0"/>
                <a:ea typeface="Calibri" pitchFamily="34" charset="-122"/>
                <a:cs typeface="Calibri" pitchFamily="34" charset="-120"/>
              </a:rPr>
              <a:t>FUTURE WORK</a:t>
            </a:r>
            <a:endParaRPr lang="en-US" sz="1200" dirty="0"/>
          </a:p>
        </p:txBody>
      </p:sp>
      <p:sp>
        <p:nvSpPr>
          <p:cNvPr id="17" name="Text 15"/>
          <p:cNvSpPr/>
          <p:nvPr/>
        </p:nvSpPr>
        <p:spPr>
          <a:xfrm>
            <a:off x="502920" y="5029200"/>
            <a:ext cx="1097280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ADCFC"/>
                </a:solidFill>
                <a:latin typeface="Calibri" pitchFamily="34" charset="0"/>
                <a:ea typeface="Calibri" pitchFamily="34" charset="-122"/>
                <a:cs typeface="Calibri" pitchFamily="34" charset="-120"/>
              </a:rPr>
              <a:t>Probe depth vs. width directly, as in the paper's layer ablations</a:t>
            </a:r>
            <a:endParaRPr lang="en-US" sz="1400" dirty="0"/>
          </a:p>
          <a:p>
            <a:pPr marL="177800" indent="-177800">
              <a:spcAft>
                <a:spcPts val="600"/>
              </a:spcAft>
              <a:buSzPct val="100000"/>
              <a:buChar char="•"/>
            </a:pPr>
            <a:r>
              <a:rPr lang="en-US" sz="1400" dirty="0">
                <a:solidFill>
                  <a:srgbClr val="CADCFC"/>
                </a:solidFill>
                <a:latin typeface="Calibri" pitchFamily="34" charset="0"/>
                <a:ea typeface="Calibri" pitchFamily="34" charset="-122"/>
                <a:cs typeface="Calibri" pitchFamily="34" charset="-120"/>
              </a:rPr>
              <a:t>Add an instruct/feature-controlled split (TinyStories-Instruct)</a:t>
            </a:r>
            <a:endParaRPr lang="en-US" sz="1400" dirty="0"/>
          </a:p>
          <a:p>
            <a:pPr marL="177800" indent="-177800">
              <a:spcAft>
                <a:spcPts val="600"/>
              </a:spcAft>
              <a:buSzPct val="100000"/>
              <a:buChar char="•"/>
            </a:pPr>
            <a:r>
              <a:rPr lang="en-US" sz="1400" dirty="0">
                <a:solidFill>
                  <a:srgbClr val="CADCFC"/>
                </a:solidFill>
                <a:latin typeface="Calibri" pitchFamily="34" charset="0"/>
                <a:ea typeface="Calibri" pitchFamily="34" charset="-122"/>
                <a:cs typeface="Calibri" pitchFamily="34" charset="-120"/>
              </a:rPr>
              <a:t>Ablate Differential Attention &amp; GQA against a vanilla baseline</a:t>
            </a:r>
            <a:endParaRPr lang="en-US" sz="1400" dirty="0"/>
          </a:p>
        </p:txBody>
      </p:sp>
      <p:sp>
        <p:nvSpPr>
          <p:cNvPr id="18" name="Text 16"/>
          <p:cNvSpPr/>
          <p:nvPr/>
        </p:nvSpPr>
        <p:spPr>
          <a:xfrm>
            <a:off x="11277295" y="6473952"/>
            <a:ext cx="41148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280160" y="3840480"/>
            <a:ext cx="3657600" cy="3657600"/>
          </a:xfrm>
          <a:prstGeom prst="ellipse">
            <a:avLst/>
          </a:prstGeom>
          <a:solidFill>
            <a:srgbClr val="20304F"/>
          </a:solidFill>
          <a:ln/>
        </p:spPr>
        <p:txBody>
          <a:bodyPr/>
          <a:lstStyle/>
          <a:p>
            <a:endParaRPr lang="en-US"/>
          </a:p>
        </p:txBody>
      </p:sp>
      <p:sp>
        <p:nvSpPr>
          <p:cNvPr id="3" name="Shape 1"/>
          <p:cNvSpPr/>
          <p:nvPr/>
        </p:nvSpPr>
        <p:spPr>
          <a:xfrm>
            <a:off x="10607040" y="-1280160"/>
            <a:ext cx="3291840" cy="3291840"/>
          </a:xfrm>
          <a:prstGeom prst="ellipse">
            <a:avLst/>
          </a:prstGeom>
          <a:solidFill>
            <a:srgbClr val="24355A"/>
          </a:solidFill>
          <a:ln/>
        </p:spPr>
        <p:txBody>
          <a:bodyPr/>
          <a:lstStyle/>
          <a:p>
            <a:endParaRPr lang="en-US"/>
          </a:p>
        </p:txBody>
      </p:sp>
      <p:sp>
        <p:nvSpPr>
          <p:cNvPr id="4" name="Text 2"/>
          <p:cNvSpPr/>
          <p:nvPr/>
        </p:nvSpPr>
        <p:spPr>
          <a:xfrm>
            <a:off x="731520" y="2148840"/>
            <a:ext cx="1005840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5" name="Text 3"/>
          <p:cNvSpPr/>
          <p:nvPr/>
        </p:nvSpPr>
        <p:spPr>
          <a:xfrm>
            <a:off x="749808" y="3200400"/>
            <a:ext cx="100584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Reproducing &amp; extending TinyStories — questions welcome.</a:t>
            </a:r>
            <a:endParaRPr lang="en-US" sz="1800" dirty="0"/>
          </a:p>
        </p:txBody>
      </p:sp>
      <p:sp>
        <p:nvSpPr>
          <p:cNvPr id="6" name="Shape 4"/>
          <p:cNvSpPr/>
          <p:nvPr/>
        </p:nvSpPr>
        <p:spPr>
          <a:xfrm>
            <a:off x="777240" y="4160520"/>
            <a:ext cx="310896" cy="310896"/>
          </a:xfrm>
          <a:prstGeom prst="ellipse">
            <a:avLst/>
          </a:prstGeom>
          <a:solidFill>
            <a:srgbClr val="E8833A"/>
          </a:solidFill>
          <a:ln/>
        </p:spPr>
        <p:txBody>
          <a:bodyPr/>
          <a:lstStyle/>
          <a:p>
            <a:endParaRPr lang="en-US"/>
          </a:p>
        </p:txBody>
      </p:sp>
      <p:sp>
        <p:nvSpPr>
          <p:cNvPr id="7" name="Text 5"/>
          <p:cNvSpPr/>
          <p:nvPr/>
        </p:nvSpPr>
        <p:spPr>
          <a:xfrm>
            <a:off x="777240" y="4160520"/>
            <a:ext cx="310896" cy="310896"/>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188720" y="4114800"/>
            <a:ext cx="8229600" cy="411480"/>
          </a:xfrm>
          <a:prstGeom prst="rect">
            <a:avLst/>
          </a:prstGeom>
          <a:noFill/>
          <a:ln/>
        </p:spPr>
        <p:txBody>
          <a:bodyPr wrap="square" lIns="0" tIns="0" rIns="0" bIns="0" rtlCol="0" anchor="ctr"/>
          <a:lstStyle/>
          <a:p>
            <a:pPr marL="0" indent="0">
              <a:buNone/>
            </a:pPr>
            <a:r>
              <a:rPr lang="en-US" sz="1600" b="1" dirty="0" err="1">
                <a:solidFill>
                  <a:srgbClr val="FFFFFF"/>
                </a:solidFill>
                <a:latin typeface="Calibri" pitchFamily="34" charset="0"/>
                <a:ea typeface="Calibri" pitchFamily="34" charset="-122"/>
                <a:cs typeface="Calibri" pitchFamily="34" charset="-120"/>
              </a:rPr>
              <a:t>github.com</a:t>
            </a:r>
            <a:r>
              <a:rPr lang="en-US" sz="1600" b="1" dirty="0">
                <a:solidFill>
                  <a:srgbClr val="FFFFFF"/>
                </a:solidFill>
                <a:latin typeface="Calibri" pitchFamily="34" charset="0"/>
                <a:ea typeface="Calibri" pitchFamily="34" charset="-122"/>
                <a:cs typeface="Calibri" pitchFamily="34" charset="-120"/>
              </a:rPr>
              <a:t>/</a:t>
            </a:r>
            <a:r>
              <a:rPr lang="en-US" sz="1600" b="1" dirty="0" err="1">
                <a:solidFill>
                  <a:srgbClr val="FFFFFF"/>
                </a:solidFill>
                <a:latin typeface="Calibri" pitchFamily="34" charset="0"/>
                <a:ea typeface="Calibri" pitchFamily="34" charset="-122"/>
                <a:cs typeface="Calibri" pitchFamily="34" charset="-120"/>
              </a:rPr>
              <a:t>clemhut</a:t>
            </a:r>
            <a:r>
              <a:rPr lang="en-US" sz="1600" b="1" dirty="0">
                <a:solidFill>
                  <a:srgbClr val="FFFFFF"/>
                </a:solidFill>
                <a:latin typeface="Calibri" pitchFamily="34" charset="0"/>
                <a:ea typeface="Calibri" pitchFamily="34" charset="-122"/>
                <a:cs typeface="Calibri" pitchFamily="34" charset="-120"/>
              </a:rPr>
              <a:t>/</a:t>
            </a:r>
            <a:r>
              <a:rPr lang="en-US" sz="1600" b="1" dirty="0" err="1">
                <a:solidFill>
                  <a:srgbClr val="FFFFFF"/>
                </a:solidFill>
                <a:latin typeface="Calibri" pitchFamily="34" charset="0"/>
                <a:ea typeface="Calibri" pitchFamily="34" charset="-122"/>
                <a:cs typeface="Calibri" pitchFamily="34" charset="-120"/>
              </a:rPr>
              <a:t>tinystories</a:t>
            </a:r>
            <a:endParaRPr lang="en-US" sz="1600" dirty="0"/>
          </a:p>
        </p:txBody>
      </p:sp>
      <p:sp>
        <p:nvSpPr>
          <p:cNvPr id="9" name="Text 7"/>
          <p:cNvSpPr/>
          <p:nvPr/>
        </p:nvSpPr>
        <p:spPr>
          <a:xfrm>
            <a:off x="777240" y="4709160"/>
            <a:ext cx="10058400" cy="365760"/>
          </a:xfrm>
          <a:prstGeom prst="rect">
            <a:avLst/>
          </a:prstGeom>
          <a:noFill/>
          <a:ln/>
        </p:spPr>
        <p:txBody>
          <a:bodyPr wrap="square" lIns="0" tIns="0" rIns="0" bIns="0" rtlCol="0" anchor="ctr"/>
          <a:lstStyle/>
          <a:p>
            <a:pPr marL="0" indent="0">
              <a:buNone/>
            </a:pPr>
            <a:r>
              <a:rPr lang="en-US" sz="1300" dirty="0">
                <a:solidFill>
                  <a:srgbClr val="9FB3D1"/>
                </a:solidFill>
                <a:latin typeface="Calibri" pitchFamily="34" charset="0"/>
                <a:ea typeface="Calibri" pitchFamily="34" charset="-122"/>
                <a:cs typeface="Calibri" pitchFamily="34" charset="-120"/>
              </a:rPr>
              <a:t>Paper:  Eldan &amp; Li (2023), “TinyStories: How Small Can Language Models Be and Still Speak Coherent English?”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1751</Words>
  <Application>Microsoft Macintosh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TinyStories</dc:title>
  <dc:subject>PptxGenJS Presentation</dc:subject>
  <dc:creator>DLNLP Group — TinyStories Reproduction</dc:creator>
  <cp:lastModifiedBy>Hütter, Clemens Gerhard</cp:lastModifiedBy>
  <cp:revision>3</cp:revision>
  <dcterms:created xsi:type="dcterms:W3CDTF">2026-06-27T12:20:02Z</dcterms:created>
  <dcterms:modified xsi:type="dcterms:W3CDTF">2026-06-29T09:14:26Z</dcterms:modified>
</cp:coreProperties>
</file>